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  <p:sldMasterId id="2147483672" r:id="rId6"/>
  </p:sldMasterIdLst>
  <p:notesMasterIdLst>
    <p:notesMasterId r:id="rId18"/>
  </p:notesMasterIdLst>
  <p:sldIdLst>
    <p:sldId id="270" r:id="rId7"/>
    <p:sldId id="262" r:id="rId8"/>
    <p:sldId id="263" r:id="rId9"/>
    <p:sldId id="277" r:id="rId10"/>
    <p:sldId id="266" r:id="rId11"/>
    <p:sldId id="267" r:id="rId12"/>
    <p:sldId id="272" r:id="rId13"/>
    <p:sldId id="274" r:id="rId14"/>
    <p:sldId id="275" r:id="rId15"/>
    <p:sldId id="276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7D89"/>
    <a:srgbClr val="0A2B52"/>
    <a:srgbClr val="0058A6"/>
    <a:srgbClr val="E99029"/>
    <a:srgbClr val="1FA0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77"/>
    <p:restoredTop sz="94647"/>
  </p:normalViewPr>
  <p:slideViewPr>
    <p:cSldViewPr snapToGrid="0" snapToObjects="1">
      <p:cViewPr>
        <p:scale>
          <a:sx n="75" d="100"/>
          <a:sy n="75" d="100"/>
        </p:scale>
        <p:origin x="416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339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E616A-22E4-8140-9F00-EC01C67457B3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63AA3D-56A0-8D4C-8211-774F51EF8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784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63AA3D-56A0-8D4C-8211-774F51EF848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003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63AA3D-56A0-8D4C-8211-774F51EF848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724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grpSp>
        <p:nvGrpSpPr>
          <p:cNvPr id="900" name="Deco"/>
          <p:cNvGrpSpPr/>
          <p:nvPr/>
        </p:nvGrpSpPr>
        <p:grpSpPr>
          <a:xfrm>
            <a:off x="0" y="6629400"/>
            <a:ext cx="9144000" cy="45720"/>
            <a:chOff x="0" y="6629400"/>
            <a:chExt cx="9144000" cy="45720"/>
          </a:xfrm>
        </p:grpSpPr>
        <p:sp>
          <p:nvSpPr>
            <p:cNvPr id="901" name="bar"/>
            <p:cNvSpPr/>
            <p:nvPr/>
          </p:nvSpPr>
          <p:spPr>
            <a:xfrm>
              <a:off x="0" y="6629400"/>
              <a:ext cx="9144000" cy="45720"/>
            </a:xfrm>
            <a:prstGeom prst="rect">
              <a:avLst/>
            </a:prstGeom>
            <a:solidFill>
              <a:srgbClr val="0058A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barred"/>
            <p:cNvSpPr/>
            <p:nvPr/>
          </p:nvSpPr>
          <p:spPr>
            <a:xfrm>
              <a:off x="0" y="6629400"/>
              <a:ext cx="1828800" cy="45720"/>
            </a:xfrm>
            <a:prstGeom prst="rect">
              <a:avLst/>
            </a:prstGeom>
            <a:solidFill>
              <a:srgbClr val="D91D3E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58A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D1D1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grpSp>
        <p:nvGrpSpPr>
          <p:cNvPr id="900" name="Deco"/>
          <p:cNvGrpSpPr/>
          <p:nvPr/>
        </p:nvGrpSpPr>
        <p:grpSpPr>
          <a:xfrm>
            <a:off x="0" y="6629400"/>
            <a:ext cx="9144000" cy="45720"/>
            <a:chOff x="0" y="6629400"/>
            <a:chExt cx="9144000" cy="45720"/>
          </a:xfrm>
        </p:grpSpPr>
        <p:sp>
          <p:nvSpPr>
            <p:cNvPr id="901" name="bar"/>
            <p:cNvSpPr/>
            <p:nvPr/>
          </p:nvSpPr>
          <p:spPr>
            <a:xfrm>
              <a:off x="0" y="6629400"/>
              <a:ext cx="9144000" cy="45720"/>
            </a:xfrm>
            <a:prstGeom prst="rect">
              <a:avLst/>
            </a:prstGeom>
            <a:solidFill>
              <a:srgbClr val="0A2C5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barred"/>
            <p:cNvSpPr/>
            <p:nvPr/>
          </p:nvSpPr>
          <p:spPr>
            <a:xfrm>
              <a:off x="0" y="6629400"/>
              <a:ext cx="1828800" cy="45720"/>
            </a:xfrm>
            <a:prstGeom prst="rect">
              <a:avLst/>
            </a:prstGeom>
            <a:solidFill>
              <a:srgbClr val="0058A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A2C5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D24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4D3A561-60B9-1143-9128-2170C910DD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7D39EEC-F1CF-E440-83A8-5C7D851F72FB}"/>
              </a:ext>
            </a:extLst>
          </p:cNvPr>
          <p:cNvSpPr/>
          <p:nvPr/>
        </p:nvSpPr>
        <p:spPr>
          <a:xfrm>
            <a:off x="10058400" y="0"/>
            <a:ext cx="2133600" cy="6858000"/>
          </a:xfrm>
          <a:prstGeom prst="rect">
            <a:avLst/>
          </a:prstGeom>
          <a:solidFill>
            <a:srgbClr val="0E3A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C840E7-E0EB-6D47-AF63-40E9A23B5376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24AB9D-9A0D-CF42-BE15-7B4BF41FC9A3}"/>
              </a:ext>
            </a:extLst>
          </p:cNvPr>
          <p:cNvSpPr txBox="1"/>
          <p:nvPr/>
        </p:nvSpPr>
        <p:spPr>
          <a:xfrm>
            <a:off x="812800" y="1524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500" b="1">
                <a:solidFill>
                  <a:srgbClr val="E8902A"/>
                </a:solidFill>
              </a:rPr>
              <a:t>NLP &amp; WEB ANALYTICS  ·  M2 2025/26</a:t>
            </a:r>
            <a:endParaRPr lang="ru-RU" sz="1500" b="1">
              <a:solidFill>
                <a:srgbClr val="E8902A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46E095-A9D7-D048-A3F6-0DD30F2FB63F}"/>
              </a:ext>
            </a:extLst>
          </p:cNvPr>
          <p:cNvSpPr txBox="1"/>
          <p:nvPr/>
        </p:nvSpPr>
        <p:spPr>
          <a:xfrm>
            <a:off x="762000" y="1930400"/>
            <a:ext cx="9652000" cy="89255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5200" b="1" dirty="0">
                <a:solidFill>
                  <a:srgbClr val="FFFFFF"/>
                </a:solidFill>
              </a:rPr>
              <a:t>Automating </a:t>
            </a:r>
            <a:r>
              <a:rPr lang="en" sz="5200" b="1" dirty="0" err="1">
                <a:solidFill>
                  <a:srgbClr val="FFFFFF"/>
                </a:solidFill>
              </a:rPr>
              <a:t>Foppa</a:t>
            </a:r>
            <a:r>
              <a:rPr lang="en" sz="5200" b="1" dirty="0">
                <a:solidFill>
                  <a:srgbClr val="FFFFFF"/>
                </a:solidFill>
              </a:rPr>
              <a:t> Orders</a:t>
            </a:r>
            <a:endParaRPr lang="ru-RU" sz="5200" b="1" dirty="0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1A237-A256-8E4D-B45E-01F42FA0FC53}"/>
              </a:ext>
            </a:extLst>
          </p:cNvPr>
          <p:cNvSpPr txBox="1"/>
          <p:nvPr/>
        </p:nvSpPr>
        <p:spPr>
          <a:xfrm>
            <a:off x="787400" y="2997200"/>
            <a:ext cx="914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2700">
                <a:solidFill>
                  <a:srgbClr val="FFFFFF"/>
                </a:solidFill>
              </a:rPr>
              <a:t>AI-Powered Automation of Order Processing</a:t>
            </a:r>
            <a:endParaRPr lang="ru-RU" sz="2700">
              <a:solidFill>
                <a:srgbClr val="FFFFFF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22BED7C-885D-4C41-A1D6-8D58DDFB7D2A}"/>
              </a:ext>
            </a:extLst>
          </p:cNvPr>
          <p:cNvSpPr/>
          <p:nvPr/>
        </p:nvSpPr>
        <p:spPr>
          <a:xfrm>
            <a:off x="812800" y="3835400"/>
            <a:ext cx="1219200" cy="635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956146-0384-8E4B-9CE8-6DD820465532}"/>
              </a:ext>
            </a:extLst>
          </p:cNvPr>
          <p:cNvSpPr txBox="1"/>
          <p:nvPr/>
        </p:nvSpPr>
        <p:spPr>
          <a:xfrm>
            <a:off x="812800" y="4089400"/>
            <a:ext cx="8382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600" dirty="0">
                <a:solidFill>
                  <a:srgbClr val="B8C6D9"/>
                </a:solidFill>
              </a:rPr>
              <a:t>Automating WhatsApp order intake for </a:t>
            </a:r>
            <a:r>
              <a:rPr lang="en" sz="1600" dirty="0" err="1">
                <a:solidFill>
                  <a:srgbClr val="B8C6D9"/>
                </a:solidFill>
              </a:rPr>
              <a:t>Foppa</a:t>
            </a:r>
            <a:r>
              <a:rPr lang="en" sz="1600" dirty="0">
                <a:solidFill>
                  <a:srgbClr val="B8C6D9"/>
                </a:solidFill>
              </a:rPr>
              <a:t> with Gemini multimodal extraction and fuzzy NLP matching across a 6,460</a:t>
            </a:r>
            <a:r>
              <a:rPr lang="ru-RU" sz="1600" dirty="0">
                <a:solidFill>
                  <a:srgbClr val="B8C6D9"/>
                </a:solidFill>
              </a:rPr>
              <a:t>- </a:t>
            </a:r>
            <a:r>
              <a:rPr lang="en" sz="1600" dirty="0">
                <a:solidFill>
                  <a:srgbClr val="B8C6D9"/>
                </a:solidFill>
              </a:rPr>
              <a:t>item catalog.</a:t>
            </a:r>
            <a:endParaRPr lang="ru-RU" sz="1600" dirty="0">
              <a:solidFill>
                <a:srgbClr val="B8C6D9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6C96F7-F24A-EC47-BCD9-BB3BAD8F4791}"/>
              </a:ext>
            </a:extLst>
          </p:cNvPr>
          <p:cNvSpPr txBox="1"/>
          <p:nvPr/>
        </p:nvSpPr>
        <p:spPr>
          <a:xfrm>
            <a:off x="812800" y="6019800"/>
            <a:ext cx="711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400" b="1">
                <a:solidFill>
                  <a:srgbClr val="FFFFFF"/>
                </a:solidFill>
              </a:rPr>
              <a:t>Natalia Akatyeva   ·   Free University of Bozen-Bolzano</a:t>
            </a:r>
            <a:endParaRPr lang="ru-RU" sz="1400" b="1">
              <a:solidFill>
                <a:srgbClr val="FFFFFF"/>
              </a:solidFill>
            </a:endParaRPr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069E57AE-F35D-7B4F-9633-7D96687C396C}"/>
              </a:ext>
            </a:extLst>
          </p:cNvPr>
          <p:cNvSpPr/>
          <p:nvPr/>
        </p:nvSpPr>
        <p:spPr>
          <a:xfrm>
            <a:off x="8978900" y="457200"/>
            <a:ext cx="2870200" cy="558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sz="1500" b="1" dirty="0" err="1">
                <a:solidFill>
                  <a:srgbClr val="0A2C52"/>
                </a:solidFill>
              </a:rPr>
              <a:t>Foppa</a:t>
            </a:r>
            <a:r>
              <a:rPr lang="en" sz="1500" b="1" dirty="0">
                <a:solidFill>
                  <a:srgbClr val="0A2C52"/>
                </a:solidFill>
              </a:rPr>
              <a:t> GmbH  ×  </a:t>
            </a:r>
            <a:r>
              <a:rPr lang="en" sz="1500" b="1" dirty="0" err="1">
                <a:solidFill>
                  <a:srgbClr val="0A2C52"/>
                </a:solidFill>
              </a:rPr>
              <a:t>LOGon</a:t>
            </a:r>
            <a:r>
              <a:rPr lang="en" sz="1500" b="1" dirty="0">
                <a:solidFill>
                  <a:srgbClr val="0A2C52"/>
                </a:solidFill>
              </a:rPr>
              <a:t> GmbH</a:t>
            </a:r>
            <a:endParaRPr lang="ru-RU" sz="1500" b="1" dirty="0">
              <a:solidFill>
                <a:srgbClr val="0A2C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261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8C0AB6E-674E-574C-9B20-BDF149172E1B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D3B0587-FC42-A940-9DD3-399404C63001}"/>
              </a:ext>
            </a:extLst>
          </p:cNvPr>
          <p:cNvSpPr/>
          <p:nvPr/>
        </p:nvSpPr>
        <p:spPr>
          <a:xfrm>
            <a:off x="0" y="0"/>
            <a:ext cx="101600" cy="11684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662571-0A1E-D94A-A6A4-DC392B883489}"/>
              </a:ext>
            </a:extLst>
          </p:cNvPr>
          <p:cNvSpPr txBox="1"/>
          <p:nvPr/>
        </p:nvSpPr>
        <p:spPr>
          <a:xfrm>
            <a:off x="508000" y="203200"/>
            <a:ext cx="11176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2600" b="1">
                <a:solidFill>
                  <a:srgbClr val="FFFFFF"/>
                </a:solidFill>
              </a:rPr>
              <a:t>The Problem: WhatsApp Chaos vs. ERP Precision</a:t>
            </a:r>
            <a:endParaRPr lang="ru-RU" sz="2600" b="1">
              <a:solidFill>
                <a:srgbClr val="FFFF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751314-3541-8C44-B825-156937FC3A01}"/>
              </a:ext>
            </a:extLst>
          </p:cNvPr>
          <p:cNvSpPr txBox="1"/>
          <p:nvPr/>
        </p:nvSpPr>
        <p:spPr>
          <a:xfrm>
            <a:off x="533400" y="7112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400">
                <a:solidFill>
                  <a:srgbClr val="AEC0D6"/>
                </a:solidFill>
              </a:rPr>
              <a:t>Unstructured human messages must become exact, structured ERP records</a:t>
            </a:r>
            <a:endParaRPr lang="ru-RU" sz="1400">
              <a:solidFill>
                <a:srgbClr val="AEC0D6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DB90B59-CB99-E84F-9B1A-97407B7FA946}"/>
              </a:ext>
            </a:extLst>
          </p:cNvPr>
          <p:cNvSpPr/>
          <p:nvPr/>
        </p:nvSpPr>
        <p:spPr>
          <a:xfrm>
            <a:off x="711200" y="1422400"/>
            <a:ext cx="5207000" cy="4038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8E0EA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87A03D1-7D2C-F749-A714-BC37B7ABA5A9}"/>
              </a:ext>
            </a:extLst>
          </p:cNvPr>
          <p:cNvSpPr/>
          <p:nvPr/>
        </p:nvSpPr>
        <p:spPr>
          <a:xfrm>
            <a:off x="711200" y="1422400"/>
            <a:ext cx="5207000" cy="685800"/>
          </a:xfrm>
          <a:prstGeom prst="rect">
            <a:avLst/>
          </a:prstGeom>
          <a:solidFill>
            <a:srgbClr val="D91D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endParaRPr lang="ru-RU" sz="1900" b="1" dirty="0">
              <a:solidFill>
                <a:srgbClr val="FFFF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43D8EF-C4D8-CD49-A17C-3F07FD17083A}"/>
              </a:ext>
            </a:extLst>
          </p:cNvPr>
          <p:cNvSpPr txBox="1"/>
          <p:nvPr/>
        </p:nvSpPr>
        <p:spPr>
          <a:xfrm>
            <a:off x="975361" y="2173408"/>
            <a:ext cx="5158739" cy="350865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Photos of handwritten notes</a:t>
            </a:r>
            <a:endParaRPr lang="en-US" sz="2000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Scanned PDFs and fax sheets</a:t>
            </a:r>
            <a:endParaRPr lang="en-US" sz="2000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WhatsApp voice messages</a:t>
            </a:r>
            <a:endParaRPr lang="en-US" sz="2000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German + Italian mixed, abbreviations, dialect</a:t>
            </a:r>
            <a:endParaRPr lang="en-US" sz="2000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Delivery notes mixed with order items</a:t>
            </a:r>
            <a:endParaRPr lang="en-US" sz="2000" dirty="0"/>
          </a:p>
          <a:p>
            <a:pPr algn="l"/>
            <a:endParaRPr lang="ru-RU" sz="1700" dirty="0">
              <a:solidFill>
                <a:srgbClr val="1D2433"/>
              </a:solidFill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1545285-FCF3-174E-BA8A-2FA0E694F6D0}"/>
              </a:ext>
            </a:extLst>
          </p:cNvPr>
          <p:cNvSpPr/>
          <p:nvPr/>
        </p:nvSpPr>
        <p:spPr>
          <a:xfrm>
            <a:off x="6273800" y="1422400"/>
            <a:ext cx="5207000" cy="4038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8E0EA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9BE4E51-2876-C04D-9C0A-63F5934E8657}"/>
              </a:ext>
            </a:extLst>
          </p:cNvPr>
          <p:cNvSpPr/>
          <p:nvPr/>
        </p:nvSpPr>
        <p:spPr>
          <a:xfrm>
            <a:off x="6273800" y="1422400"/>
            <a:ext cx="5207000" cy="685800"/>
          </a:xfrm>
          <a:prstGeom prst="rect">
            <a:avLst/>
          </a:prstGeom>
          <a:solidFill>
            <a:srgbClr val="E990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endParaRPr lang="ru-RU" sz="1900" b="1" dirty="0">
              <a:solidFill>
                <a:srgbClr val="107D89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8C7638-5AD0-1043-B7E6-CBE32948BB6E}"/>
              </a:ext>
            </a:extLst>
          </p:cNvPr>
          <p:cNvSpPr txBox="1"/>
          <p:nvPr/>
        </p:nvSpPr>
        <p:spPr>
          <a:xfrm>
            <a:off x="6540500" y="2092628"/>
            <a:ext cx="4673600" cy="246836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85750" indent="-285750" algn="l">
              <a:lnSpc>
                <a:spcPct val="200000"/>
              </a:lnSpc>
              <a:buClr>
                <a:schemeClr val="accent6">
                  <a:lumMod val="75000"/>
                </a:schemeClr>
              </a:buClr>
              <a:buSzPct val="110000"/>
              <a:buFont typeface="Wingdings" pitchFamily="2" charset="2"/>
              <a:buChar char="§"/>
            </a:pPr>
            <a:r>
              <a:rPr lang="en" sz="2000" dirty="0">
                <a:solidFill>
                  <a:srgbClr val="1D2433"/>
                </a:solidFill>
              </a:rPr>
              <a:t>Exact item codes (e.g. JO66F)
Standardized units (KAN, KRT, BEG)
Clean, validated quantities
Structured JSON output</a:t>
            </a:r>
            <a:endParaRPr lang="ru-RU" sz="2000" dirty="0">
              <a:solidFill>
                <a:srgbClr val="1D2433"/>
              </a:solidFill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715C61DD-D188-EE44-9F16-FE128114FEA8}"/>
              </a:ext>
            </a:extLst>
          </p:cNvPr>
          <p:cNvSpPr/>
          <p:nvPr/>
        </p:nvSpPr>
        <p:spPr>
          <a:xfrm>
            <a:off x="711200" y="5689600"/>
            <a:ext cx="10769600" cy="736600"/>
          </a:xfrm>
          <a:prstGeom prst="rect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sz="1700" b="1" dirty="0">
                <a:solidFill>
                  <a:srgbClr val="FFFFFF"/>
                </a:solidFill>
              </a:rPr>
              <a:t>Every order requires manual back-office entry — slow, error-prone, and expensive.</a:t>
            </a:r>
            <a:endParaRPr lang="ru-RU" sz="1700" b="1" dirty="0">
              <a:solidFill>
                <a:srgbClr val="FFFFFF"/>
              </a:solidFill>
            </a:endParaRPr>
          </a:p>
        </p:txBody>
      </p:sp>
      <p:pic>
        <p:nvPicPr>
          <p:cNvPr id="60" name="Image 0" descr="preencoded.png">
            <a:extLst>
              <a:ext uri="{FF2B5EF4-FFF2-40B4-BE49-F238E27FC236}">
                <a16:creationId xmlns:a16="http://schemas.microsoft.com/office/drawing/2014/main" id="{2B78399B-3ECD-DDB0-BA8B-4A87C1273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01" y="1571761"/>
            <a:ext cx="341608" cy="341608"/>
          </a:xfrm>
          <a:prstGeom prst="rect">
            <a:avLst/>
          </a:prstGeom>
        </p:spPr>
      </p:pic>
      <p:sp>
        <p:nvSpPr>
          <p:cNvPr id="61" name="Text 3">
            <a:extLst>
              <a:ext uri="{FF2B5EF4-FFF2-40B4-BE49-F238E27FC236}">
                <a16:creationId xmlns:a16="http://schemas.microsoft.com/office/drawing/2014/main" id="{BB57816A-E07D-8D37-1E4D-422EAC39FDEB}"/>
              </a:ext>
            </a:extLst>
          </p:cNvPr>
          <p:cNvSpPr/>
          <p:nvPr/>
        </p:nvSpPr>
        <p:spPr>
          <a:xfrm>
            <a:off x="1407161" y="1615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Foppa Receives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62" name="Image 1" descr="preencoded.png">
            <a:extLst>
              <a:ext uri="{FF2B5EF4-FFF2-40B4-BE49-F238E27FC236}">
                <a16:creationId xmlns:a16="http://schemas.microsoft.com/office/drawing/2014/main" id="{B9D7C991-84D7-DD01-31D1-D878D92EF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405" y="1577173"/>
            <a:ext cx="337654" cy="337654"/>
          </a:xfrm>
          <a:prstGeom prst="rect">
            <a:avLst/>
          </a:prstGeom>
        </p:spPr>
      </p:pic>
      <p:sp>
        <p:nvSpPr>
          <p:cNvPr id="64" name="Text 3">
            <a:extLst>
              <a:ext uri="{FF2B5EF4-FFF2-40B4-BE49-F238E27FC236}">
                <a16:creationId xmlns:a16="http://schemas.microsoft.com/office/drawing/2014/main" id="{77810F5F-B2CE-1031-5274-E96EF534009C}"/>
              </a:ext>
            </a:extLst>
          </p:cNvPr>
          <p:cNvSpPr/>
          <p:nvPr/>
        </p:nvSpPr>
        <p:spPr>
          <a:xfrm>
            <a:off x="7113692" y="1625017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ru-RU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Requires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459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4E1FA69-EFFA-4344-AED0-B21E5A211067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0D1F86E3-1044-A64D-A970-ABABF036C5B7}"/>
              </a:ext>
            </a:extLst>
          </p:cNvPr>
          <p:cNvSpPr/>
          <p:nvPr/>
        </p:nvSpPr>
        <p:spPr>
          <a:xfrm>
            <a:off x="0" y="0"/>
            <a:ext cx="101600" cy="11684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7B783A-578D-E449-AD03-0D40CD9539AE}"/>
              </a:ext>
            </a:extLst>
          </p:cNvPr>
          <p:cNvSpPr txBox="1"/>
          <p:nvPr/>
        </p:nvSpPr>
        <p:spPr>
          <a:xfrm>
            <a:off x="508000" y="1778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2800" b="1">
                <a:solidFill>
                  <a:srgbClr val="FFFFFF"/>
                </a:solidFill>
              </a:rPr>
              <a:t>The Scale of the Problem</a:t>
            </a:r>
            <a:endParaRPr lang="ru-RU" sz="2800" b="1">
              <a:solidFill>
                <a:srgbClr val="FFFFFF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EBA14F-0388-9940-9BE3-CD289473AA9E}"/>
              </a:ext>
            </a:extLst>
          </p:cNvPr>
          <p:cNvSpPr txBox="1"/>
          <p:nvPr/>
        </p:nvSpPr>
        <p:spPr>
          <a:xfrm>
            <a:off x="533400" y="7366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500">
                <a:solidFill>
                  <a:srgbClr val="AEC0D6"/>
                </a:solidFill>
              </a:rPr>
              <a:t>One AI pipeline mapping thousands of free-text orders onto a 6,460-item catalog</a:t>
            </a:r>
            <a:endParaRPr lang="ru-RU" sz="1500">
              <a:solidFill>
                <a:srgbClr val="AEC0D6"/>
              </a:solidFill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A1BC4B5D-84A2-BE42-BECB-67B3768690E3}"/>
              </a:ext>
            </a:extLst>
          </p:cNvPr>
          <p:cNvSpPr/>
          <p:nvPr/>
        </p:nvSpPr>
        <p:spPr>
          <a:xfrm>
            <a:off x="711200" y="1473200"/>
            <a:ext cx="2514600" cy="3251200"/>
          </a:xfrm>
          <a:prstGeom prst="rect">
            <a:avLst/>
          </a:prstGeom>
          <a:solidFill>
            <a:srgbClr val="0058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531484-97B8-D342-AF2B-99AA664898CB}"/>
              </a:ext>
            </a:extLst>
          </p:cNvPr>
          <p:cNvSpPr txBox="1"/>
          <p:nvPr/>
        </p:nvSpPr>
        <p:spPr>
          <a:xfrm>
            <a:off x="762000" y="2032000"/>
            <a:ext cx="2413000" cy="1219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ru-RU" sz="5400" b="1" dirty="0">
                <a:solidFill>
                  <a:srgbClr val="FFFFFF"/>
                </a:solidFill>
              </a:rPr>
              <a:t>6,460+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FA297B17-AFAE-DC4F-B34A-275FF891BE20}"/>
              </a:ext>
            </a:extLst>
          </p:cNvPr>
          <p:cNvSpPr/>
          <p:nvPr/>
        </p:nvSpPr>
        <p:spPr>
          <a:xfrm>
            <a:off x="1663700" y="3378200"/>
            <a:ext cx="6096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8C3D9D-2968-EA43-B239-DFBF33BC9BCD}"/>
              </a:ext>
            </a:extLst>
          </p:cNvPr>
          <p:cNvSpPr txBox="1"/>
          <p:nvPr/>
        </p:nvSpPr>
        <p:spPr>
          <a:xfrm>
            <a:off x="838200" y="3581400"/>
            <a:ext cx="22606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700">
                <a:solidFill>
                  <a:srgbClr val="FFFFFF"/>
                </a:solidFill>
              </a:rPr>
              <a:t>products in the
Foppa catalog</a:t>
            </a:r>
            <a:endParaRPr lang="ru-RU" sz="1700">
              <a:solidFill>
                <a:srgbClr val="FFFFFF"/>
              </a:solidFill>
            </a:endParaRP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413A7F2D-DD86-C74F-92FA-39E87D23E8B3}"/>
              </a:ext>
            </a:extLst>
          </p:cNvPr>
          <p:cNvSpPr/>
          <p:nvPr/>
        </p:nvSpPr>
        <p:spPr>
          <a:xfrm>
            <a:off x="3454400" y="1473200"/>
            <a:ext cx="2514600" cy="3251200"/>
          </a:xfrm>
          <a:prstGeom prst="rect">
            <a:avLst/>
          </a:prstGeom>
          <a:solidFill>
            <a:srgbClr val="117D8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7D0B5E-BCA1-8D49-B7F1-B50FC4C8462E}"/>
              </a:ext>
            </a:extLst>
          </p:cNvPr>
          <p:cNvSpPr txBox="1"/>
          <p:nvPr/>
        </p:nvSpPr>
        <p:spPr>
          <a:xfrm>
            <a:off x="3505200" y="2032000"/>
            <a:ext cx="2413000" cy="1219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ru-RU" sz="5400" b="1">
                <a:solidFill>
                  <a:srgbClr val="FFFFFF"/>
                </a:solidFill>
              </a:rPr>
              <a:t>4,092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366519D6-8E75-924D-97E8-C142EC210A18}"/>
              </a:ext>
            </a:extLst>
          </p:cNvPr>
          <p:cNvSpPr/>
          <p:nvPr/>
        </p:nvSpPr>
        <p:spPr>
          <a:xfrm>
            <a:off x="4406900" y="3378200"/>
            <a:ext cx="6096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7938AF-88CE-F741-9382-AD2168C4A64A}"/>
              </a:ext>
            </a:extLst>
          </p:cNvPr>
          <p:cNvSpPr txBox="1"/>
          <p:nvPr/>
        </p:nvSpPr>
        <p:spPr>
          <a:xfrm>
            <a:off x="3581400" y="3581400"/>
            <a:ext cx="22606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700">
                <a:solidFill>
                  <a:srgbClr val="FFFFFF"/>
                </a:solidFill>
              </a:rPr>
              <a:t>customer order
templates</a:t>
            </a:r>
            <a:endParaRPr lang="ru-RU" sz="1700">
              <a:solidFill>
                <a:srgbClr val="FFFFFF"/>
              </a:solidFill>
            </a:endParaRP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BDD885EA-EE28-274A-BC03-B31B5CDED9BD}"/>
              </a:ext>
            </a:extLst>
          </p:cNvPr>
          <p:cNvSpPr/>
          <p:nvPr/>
        </p:nvSpPr>
        <p:spPr>
          <a:xfrm>
            <a:off x="6197600" y="1473200"/>
            <a:ext cx="2514600" cy="32512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26AFBC-5AC4-BD4E-ABB0-AE0A49608C40}"/>
              </a:ext>
            </a:extLst>
          </p:cNvPr>
          <p:cNvSpPr txBox="1"/>
          <p:nvPr/>
        </p:nvSpPr>
        <p:spPr>
          <a:xfrm>
            <a:off x="6248400" y="2032000"/>
            <a:ext cx="2413000" cy="1219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ru-RU" sz="3600" b="1">
                <a:solidFill>
                  <a:srgbClr val="FFFFFF"/>
                </a:solidFill>
              </a:rPr>
              <a:t>~50–100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88CA5B4F-EA20-594B-AF8F-FA6468BE05E0}"/>
              </a:ext>
            </a:extLst>
          </p:cNvPr>
          <p:cNvSpPr/>
          <p:nvPr/>
        </p:nvSpPr>
        <p:spPr>
          <a:xfrm>
            <a:off x="7150100" y="3378200"/>
            <a:ext cx="6096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78DD82-38A7-7B4F-8918-EA57A6BE3B1A}"/>
              </a:ext>
            </a:extLst>
          </p:cNvPr>
          <p:cNvSpPr txBox="1"/>
          <p:nvPr/>
        </p:nvSpPr>
        <p:spPr>
          <a:xfrm>
            <a:off x="6324600" y="3581400"/>
            <a:ext cx="22606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700">
                <a:solidFill>
                  <a:srgbClr val="FFFFFF"/>
                </a:solidFill>
              </a:rPr>
              <a:t>items per
customer template</a:t>
            </a:r>
            <a:endParaRPr lang="ru-RU" sz="1700">
              <a:solidFill>
                <a:srgbClr val="FFFFFF"/>
              </a:solidFill>
            </a:endParaRP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AF4026DF-23BE-F04F-A19D-080FBE500D9A}"/>
              </a:ext>
            </a:extLst>
          </p:cNvPr>
          <p:cNvSpPr/>
          <p:nvPr/>
        </p:nvSpPr>
        <p:spPr>
          <a:xfrm>
            <a:off x="8940800" y="1473200"/>
            <a:ext cx="2514600" cy="3251200"/>
          </a:xfrm>
          <a:prstGeom prst="rect">
            <a:avLst/>
          </a:prstGeom>
          <a:solidFill>
            <a:srgbClr val="20A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7B182F-138E-EA4F-979B-EDBF6405254A}"/>
              </a:ext>
            </a:extLst>
          </p:cNvPr>
          <p:cNvSpPr txBox="1"/>
          <p:nvPr/>
        </p:nvSpPr>
        <p:spPr>
          <a:xfrm>
            <a:off x="8991600" y="2032000"/>
            <a:ext cx="2413000" cy="1219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ru-RU" sz="6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FAF79FAA-EF56-DC41-8ABF-A53E7F59B282}"/>
              </a:ext>
            </a:extLst>
          </p:cNvPr>
          <p:cNvSpPr/>
          <p:nvPr/>
        </p:nvSpPr>
        <p:spPr>
          <a:xfrm>
            <a:off x="9893300" y="3378200"/>
            <a:ext cx="6096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DC5F0B-A000-9049-B4D4-C3C3C8A9D2D2}"/>
              </a:ext>
            </a:extLst>
          </p:cNvPr>
          <p:cNvSpPr txBox="1"/>
          <p:nvPr/>
        </p:nvSpPr>
        <p:spPr>
          <a:xfrm>
            <a:off x="9067800" y="3581400"/>
            <a:ext cx="22606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700">
                <a:solidFill>
                  <a:srgbClr val="FFFFFF"/>
                </a:solidFill>
              </a:rPr>
              <a:t>unified AI
pipeline</a:t>
            </a:r>
            <a:endParaRPr lang="ru-RU" sz="1700">
              <a:solidFill>
                <a:srgbClr val="FFFFFF"/>
              </a:solidFill>
            </a:endParaRP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60A169E4-72A6-7645-AA80-4EE813D7FD06}"/>
              </a:ext>
            </a:extLst>
          </p:cNvPr>
          <p:cNvSpPr/>
          <p:nvPr/>
        </p:nvSpPr>
        <p:spPr>
          <a:xfrm>
            <a:off x="711200" y="4978400"/>
            <a:ext cx="10769600" cy="1143000"/>
          </a:xfrm>
          <a:prstGeom prst="rect">
            <a:avLst/>
          </a:prstGeom>
          <a:solidFill>
            <a:srgbClr val="EEF3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284B527D-9319-9B43-81C8-CBA0B98F4978}"/>
              </a:ext>
            </a:extLst>
          </p:cNvPr>
          <p:cNvSpPr/>
          <p:nvPr/>
        </p:nvSpPr>
        <p:spPr>
          <a:xfrm>
            <a:off x="711200" y="4978400"/>
            <a:ext cx="127000" cy="11430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AA17D2-D552-4841-BB9F-5089C9EAB708}"/>
              </a:ext>
            </a:extLst>
          </p:cNvPr>
          <p:cNvSpPr txBox="1"/>
          <p:nvPr/>
        </p:nvSpPr>
        <p:spPr>
          <a:xfrm>
            <a:off x="1016000" y="5319067"/>
            <a:ext cx="10160000" cy="46166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sz="2400" dirty="0"/>
              <a:t>Customer templates shrink search space drastically from 6,460+ items</a:t>
            </a:r>
            <a:endParaRPr lang="ru-RU" sz="2400" dirty="0">
              <a:solidFill>
                <a:srgbClr val="1D24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192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5DD47E-1F15-7D4D-9EE1-2E5EBB0E4288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0694BCD-092C-BF47-B4AE-09ACDE18D79D}"/>
              </a:ext>
            </a:extLst>
          </p:cNvPr>
          <p:cNvSpPr/>
          <p:nvPr/>
        </p:nvSpPr>
        <p:spPr>
          <a:xfrm>
            <a:off x="0" y="0"/>
            <a:ext cx="101600" cy="11684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28E93B-A875-EB4C-98CE-89A163DA0BEB}"/>
              </a:ext>
            </a:extLst>
          </p:cNvPr>
          <p:cNvSpPr txBox="1"/>
          <p:nvPr/>
        </p:nvSpPr>
        <p:spPr>
          <a:xfrm>
            <a:off x="508000" y="203200"/>
            <a:ext cx="11176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2600" b="1" dirty="0">
                <a:solidFill>
                  <a:srgbClr val="FFFFFF"/>
                </a:solidFill>
              </a:rPr>
              <a:t>Approach: Data &amp; Methods</a:t>
            </a:r>
            <a:endParaRPr lang="ru-RU" sz="2600" b="1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54FAED-2CA4-CF48-A172-CC2589888CD4}"/>
              </a:ext>
            </a:extLst>
          </p:cNvPr>
          <p:cNvSpPr txBox="1"/>
          <p:nvPr/>
        </p:nvSpPr>
        <p:spPr>
          <a:xfrm>
            <a:off x="533400" y="7112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400">
                <a:solidFill>
                  <a:srgbClr val="AEC0D6"/>
                </a:solidFill>
              </a:rPr>
              <a:t>Real customer data paired with multimodal AI and probabilistic matching</a:t>
            </a:r>
            <a:endParaRPr lang="ru-RU" sz="1400">
              <a:solidFill>
                <a:srgbClr val="AEC0D6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422E660-4F40-5440-9AD1-E0390A446386}"/>
              </a:ext>
            </a:extLst>
          </p:cNvPr>
          <p:cNvSpPr/>
          <p:nvPr/>
        </p:nvSpPr>
        <p:spPr>
          <a:xfrm>
            <a:off x="1369934" y="1498600"/>
            <a:ext cx="9452131" cy="2415082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8E0EA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70127AE-D918-254C-9F58-53FF389D189F}"/>
              </a:ext>
            </a:extLst>
          </p:cNvPr>
          <p:cNvSpPr/>
          <p:nvPr/>
        </p:nvSpPr>
        <p:spPr>
          <a:xfrm>
            <a:off x="1369934" y="1498600"/>
            <a:ext cx="9452131" cy="457200"/>
          </a:xfrm>
          <a:prstGeom prst="rect">
            <a:avLst/>
          </a:prstGeom>
          <a:solidFill>
            <a:srgbClr val="E990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sz="2000" b="1" dirty="0">
                <a:solidFill>
                  <a:srgbClr val="FFFFFF"/>
                </a:solidFill>
              </a:rPr>
              <a:t>DATA</a:t>
            </a:r>
            <a:endParaRPr lang="ru-RU" sz="2000" b="1" dirty="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13D50-F144-0A4A-AA9B-CF7F9835BF40}"/>
              </a:ext>
            </a:extLst>
          </p:cNvPr>
          <p:cNvSpPr txBox="1"/>
          <p:nvPr/>
        </p:nvSpPr>
        <p:spPr>
          <a:xfrm>
            <a:off x="1598534" y="2319402"/>
            <a:ext cx="8673475" cy="115416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85750" indent="-285750">
              <a:spcAft>
                <a:spcPts val="9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E99029"/>
                </a:solidFill>
              </a:rPr>
              <a:t>orders/</a:t>
            </a:r>
            <a:r>
              <a:rPr lang="en-US" dirty="0">
                <a:solidFill>
                  <a:srgbClr val="E99029"/>
                </a:solidFill>
              </a:rPr>
              <a:t>  </a:t>
            </a:r>
            <a:r>
              <a:rPr lang="en-US" dirty="0">
                <a:solidFill>
                  <a:srgbClr val="1D2433"/>
                </a:solidFill>
              </a:rPr>
              <a:t>—  real customer files (JPG, PDF, TXT) with ground-truth CSV</a:t>
            </a:r>
          </a:p>
          <a:p>
            <a:pPr marL="285750" indent="-285750">
              <a:spcAft>
                <a:spcPts val="9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E99029"/>
                </a:solidFill>
              </a:rPr>
              <a:t>CompleteItemArchive.xlsx</a:t>
            </a:r>
            <a:r>
              <a:rPr lang="en-US" dirty="0">
                <a:solidFill>
                  <a:srgbClr val="E99029"/>
                </a:solidFill>
              </a:rPr>
              <a:t>  </a:t>
            </a:r>
            <a:r>
              <a:rPr lang="en-US" dirty="0">
                <a:solidFill>
                  <a:srgbClr val="1D2433"/>
                </a:solidFill>
              </a:rPr>
              <a:t>—  full catalog: 6,460 items, German + Italian</a:t>
            </a:r>
          </a:p>
          <a:p>
            <a:pPr marL="285750" indent="-285750">
              <a:spcAft>
                <a:spcPts val="9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E99029"/>
                </a:solidFill>
              </a:rPr>
              <a:t>Schablone.xlsx</a:t>
            </a:r>
            <a:r>
              <a:rPr lang="en-US" dirty="0">
                <a:solidFill>
                  <a:srgbClr val="E99029"/>
                </a:solidFill>
              </a:rPr>
              <a:t>  </a:t>
            </a:r>
            <a:r>
              <a:rPr lang="en-US" dirty="0">
                <a:solidFill>
                  <a:srgbClr val="1D2433"/>
                </a:solidFill>
              </a:rPr>
              <a:t>—  </a:t>
            </a:r>
            <a:r>
              <a:rPr lang="en" dirty="0"/>
              <a:t>customer order templates (50–100 items per customer)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AB82C0-0BB9-1B4A-A0FD-E7EF1E424963}"/>
              </a:ext>
            </a:extLst>
          </p:cNvPr>
          <p:cNvSpPr txBox="1"/>
          <p:nvPr/>
        </p:nvSpPr>
        <p:spPr>
          <a:xfrm>
            <a:off x="6527800" y="3381592"/>
            <a:ext cx="4724400" cy="72981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00000" indent="-200000">
              <a:lnSpc>
                <a:spcPts val="2100"/>
              </a:lnSpc>
              <a:spcAft>
                <a:spcPts val="900"/>
              </a:spcAft>
              <a:buFont typeface="Arial"/>
              <a:buChar char="▪"/>
            </a:pPr>
            <a:endParaRPr lang="en-US" sz="1700" b="1" dirty="0">
              <a:solidFill>
                <a:srgbClr val="117D89"/>
              </a:solidFill>
            </a:endParaRPr>
          </a:p>
          <a:p>
            <a:pPr marL="200000" indent="-200000">
              <a:lnSpc>
                <a:spcPts val="2100"/>
              </a:lnSpc>
              <a:spcAft>
                <a:spcPts val="900"/>
              </a:spcAft>
              <a:buFont typeface="Arial"/>
              <a:buChar char="▪"/>
            </a:pPr>
            <a:endParaRPr lang="en-US" sz="1500" dirty="0">
              <a:solidFill>
                <a:srgbClr val="1D2433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ED37B53-87A4-B5F6-BAEC-2D7B3C7D7114}"/>
              </a:ext>
            </a:extLst>
          </p:cNvPr>
          <p:cNvSpPr/>
          <p:nvPr/>
        </p:nvSpPr>
        <p:spPr>
          <a:xfrm>
            <a:off x="1369934" y="4194712"/>
            <a:ext cx="9452131" cy="2415082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8E0EA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93A44D-6DDD-53F0-E9B4-3F3EF61FC4E4}"/>
              </a:ext>
            </a:extLst>
          </p:cNvPr>
          <p:cNvSpPr txBox="1"/>
          <p:nvPr/>
        </p:nvSpPr>
        <p:spPr>
          <a:xfrm>
            <a:off x="1598534" y="4756794"/>
            <a:ext cx="9223531" cy="170816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85750" indent="-285750">
              <a:spcAft>
                <a:spcPts val="900"/>
              </a:spcAft>
              <a:buClr>
                <a:srgbClr val="09545E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7D89"/>
                </a:solidFill>
              </a:rPr>
              <a:t>Gemini 2.5 Flash</a:t>
            </a:r>
            <a:r>
              <a:rPr lang="en-US" dirty="0">
                <a:solidFill>
                  <a:srgbClr val="1D2433"/>
                </a:solidFill>
              </a:rPr>
              <a:t>  —  </a:t>
            </a:r>
            <a:r>
              <a:rPr lang="en" dirty="0"/>
              <a:t>extract text from images, PDFs, and text in one call; structured JSON; multilingual support</a:t>
            </a:r>
            <a:endParaRPr lang="ru-RU" dirty="0"/>
          </a:p>
          <a:p>
            <a:pPr marL="285750" indent="-285750">
              <a:spcAft>
                <a:spcPts val="900"/>
              </a:spcAft>
              <a:buClr>
                <a:srgbClr val="09545E"/>
              </a:buCl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117D89"/>
                </a:solidFill>
              </a:rPr>
              <a:t>rapidfuzz</a:t>
            </a:r>
            <a:r>
              <a:rPr lang="en-US" b="1" dirty="0">
                <a:solidFill>
                  <a:srgbClr val="117D89"/>
                </a:solidFill>
              </a:rPr>
              <a:t> · </a:t>
            </a:r>
            <a:r>
              <a:rPr lang="en-US" b="1" dirty="0" err="1">
                <a:solidFill>
                  <a:srgbClr val="117D89"/>
                </a:solidFill>
              </a:rPr>
              <a:t>token_set_ratio</a:t>
            </a:r>
            <a:r>
              <a:rPr lang="en-US" dirty="0">
                <a:solidFill>
                  <a:srgbClr val="1D2433"/>
                </a:solidFill>
              </a:rPr>
              <a:t>  —  </a:t>
            </a:r>
            <a:r>
              <a:rPr lang="en" dirty="0"/>
              <a:t>word-order-independent fuzzy matching for product names</a:t>
            </a:r>
            <a:endParaRPr lang="en-US" dirty="0">
              <a:solidFill>
                <a:srgbClr val="1D2433"/>
              </a:solidFill>
            </a:endParaRPr>
          </a:p>
          <a:p>
            <a:pPr marL="285750" indent="-285750">
              <a:spcAft>
                <a:spcPts val="900"/>
              </a:spcAft>
              <a:buClr>
                <a:srgbClr val="09545E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17D89"/>
                </a:solidFill>
              </a:rPr>
              <a:t>Three-stage cascade</a:t>
            </a:r>
            <a:r>
              <a:rPr lang="en-US" dirty="0">
                <a:solidFill>
                  <a:srgbClr val="1D2433"/>
                </a:solidFill>
              </a:rPr>
              <a:t>  —  </a:t>
            </a:r>
            <a:r>
              <a:rPr lang="en" dirty="0"/>
              <a:t>search in customer template first (~50–100 items), then fuzzy scoring, fallback to full catalog</a:t>
            </a:r>
            <a:endParaRPr lang="en-US" dirty="0">
              <a:solidFill>
                <a:srgbClr val="1D2433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9B232B1-F925-C649-B725-70A8C88251FE}"/>
              </a:ext>
            </a:extLst>
          </p:cNvPr>
          <p:cNvSpPr/>
          <p:nvPr/>
        </p:nvSpPr>
        <p:spPr>
          <a:xfrm>
            <a:off x="1369934" y="4198671"/>
            <a:ext cx="9452131" cy="413283"/>
          </a:xfrm>
          <a:prstGeom prst="rect">
            <a:avLst/>
          </a:prstGeom>
          <a:solidFill>
            <a:srgbClr val="117D8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sz="1900" b="1" dirty="0">
                <a:solidFill>
                  <a:srgbClr val="FFFFFF"/>
                </a:solidFill>
              </a:rPr>
              <a:t>METHODS</a:t>
            </a:r>
            <a:endParaRPr lang="ru-RU" sz="19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56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816411C4-7D63-164A-8DAB-BDFF8E0A80F4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80C67493-90F3-B84E-9654-D2CA960122C1}"/>
              </a:ext>
            </a:extLst>
          </p:cNvPr>
          <p:cNvSpPr/>
          <p:nvPr/>
        </p:nvSpPr>
        <p:spPr>
          <a:xfrm>
            <a:off x="0" y="0"/>
            <a:ext cx="101600" cy="11684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690196B-5B07-3746-AE1B-554E9BDA3787}"/>
              </a:ext>
            </a:extLst>
          </p:cNvPr>
          <p:cNvSpPr txBox="1"/>
          <p:nvPr/>
        </p:nvSpPr>
        <p:spPr>
          <a:xfrm>
            <a:off x="508000" y="1778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2800" b="1">
                <a:solidFill>
                  <a:srgbClr val="FFFFFF"/>
                </a:solidFill>
              </a:rPr>
              <a:t>End-to-End Pipeline</a:t>
            </a:r>
            <a:endParaRPr lang="ru-RU" sz="2800" b="1">
              <a:solidFill>
                <a:srgbClr val="FFFFFF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02389F-3214-4D44-B055-4A8FB5BB1DA5}"/>
              </a:ext>
            </a:extLst>
          </p:cNvPr>
          <p:cNvSpPr txBox="1"/>
          <p:nvPr/>
        </p:nvSpPr>
        <p:spPr>
          <a:xfrm>
            <a:off x="533400" y="7366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500">
                <a:solidFill>
                  <a:srgbClr val="AEC0D6"/>
                </a:solidFill>
              </a:rPr>
              <a:t>From a raw WhatsApp message to an ERP-ready, validated order</a:t>
            </a:r>
            <a:endParaRPr lang="ru-RU" sz="1500">
              <a:solidFill>
                <a:srgbClr val="AEC0D6"/>
              </a:solidFill>
            </a:endParaRP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49D18EA8-AB31-914A-B12D-4F8C30A272B5}"/>
              </a:ext>
            </a:extLst>
          </p:cNvPr>
          <p:cNvSpPr/>
          <p:nvPr/>
        </p:nvSpPr>
        <p:spPr>
          <a:xfrm>
            <a:off x="711200" y="1498600"/>
            <a:ext cx="2082800" cy="2057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8E0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7A21E2F3-28C0-C84F-A3AE-33BE0F4FFE02}"/>
              </a:ext>
            </a:extLst>
          </p:cNvPr>
          <p:cNvSpPr/>
          <p:nvPr/>
        </p:nvSpPr>
        <p:spPr>
          <a:xfrm>
            <a:off x="711200" y="1498600"/>
            <a:ext cx="2082800" cy="101600"/>
          </a:xfrm>
          <a:prstGeom prst="rect">
            <a:avLst/>
          </a:prstGeom>
          <a:solidFill>
            <a:srgbClr val="0058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76" name="Овал 75">
            <a:extLst>
              <a:ext uri="{FF2B5EF4-FFF2-40B4-BE49-F238E27FC236}">
                <a16:creationId xmlns:a16="http://schemas.microsoft.com/office/drawing/2014/main" id="{70605F86-1DCA-7145-A3C8-4887E716D3AF}"/>
              </a:ext>
            </a:extLst>
          </p:cNvPr>
          <p:cNvSpPr/>
          <p:nvPr/>
        </p:nvSpPr>
        <p:spPr>
          <a:xfrm>
            <a:off x="1498600" y="1752600"/>
            <a:ext cx="508000" cy="508000"/>
          </a:xfrm>
          <a:prstGeom prst="ellipse">
            <a:avLst/>
          </a:prstGeom>
          <a:solidFill>
            <a:srgbClr val="0058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16E47F2-D7E7-E846-956B-ECE8F2E72F7C}"/>
              </a:ext>
            </a:extLst>
          </p:cNvPr>
          <p:cNvSpPr txBox="1"/>
          <p:nvPr/>
        </p:nvSpPr>
        <p:spPr>
          <a:xfrm>
            <a:off x="812800" y="2362200"/>
            <a:ext cx="1879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600" b="1">
                <a:solidFill>
                  <a:srgbClr val="1D2433"/>
                </a:solidFill>
              </a:rPr>
              <a:t>Raw Input</a:t>
            </a:r>
            <a:endParaRPr lang="ru-RU" sz="1600" b="1">
              <a:solidFill>
                <a:srgbClr val="1D2433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9EBA4B0-7C9F-2342-A700-4F1537A63B88}"/>
              </a:ext>
            </a:extLst>
          </p:cNvPr>
          <p:cNvSpPr txBox="1"/>
          <p:nvPr/>
        </p:nvSpPr>
        <p:spPr>
          <a:xfrm>
            <a:off x="812800" y="28702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400">
                <a:solidFill>
                  <a:srgbClr val="6B7280"/>
                </a:solidFill>
              </a:rPr>
              <a:t>WhatsApp · Photo
PDF · TXT</a:t>
            </a:r>
            <a:endParaRPr lang="ru-RU" sz="1400">
              <a:solidFill>
                <a:srgbClr val="6B7280"/>
              </a:solidFill>
            </a:endParaRPr>
          </a:p>
        </p:txBody>
      </p:sp>
      <p:sp>
        <p:nvSpPr>
          <p:cNvPr id="79" name="Стрелка вправо 78">
            <a:extLst>
              <a:ext uri="{FF2B5EF4-FFF2-40B4-BE49-F238E27FC236}">
                <a16:creationId xmlns:a16="http://schemas.microsoft.com/office/drawing/2014/main" id="{D0D6F6FE-8836-1441-B0A7-C1B991517201}"/>
              </a:ext>
            </a:extLst>
          </p:cNvPr>
          <p:cNvSpPr/>
          <p:nvPr/>
        </p:nvSpPr>
        <p:spPr>
          <a:xfrm>
            <a:off x="2781300" y="2336800"/>
            <a:ext cx="152400" cy="381000"/>
          </a:xfrm>
          <a:prstGeom prst="rightArrow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967808E3-4F85-C347-BDD5-6A57AFCCEC4C}"/>
              </a:ext>
            </a:extLst>
          </p:cNvPr>
          <p:cNvSpPr/>
          <p:nvPr/>
        </p:nvSpPr>
        <p:spPr>
          <a:xfrm>
            <a:off x="2921000" y="1498600"/>
            <a:ext cx="2082800" cy="2057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8E0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7F267F6E-822E-8145-B109-A52D53D4C69E}"/>
              </a:ext>
            </a:extLst>
          </p:cNvPr>
          <p:cNvSpPr/>
          <p:nvPr/>
        </p:nvSpPr>
        <p:spPr>
          <a:xfrm>
            <a:off x="2921000" y="1498600"/>
            <a:ext cx="2082800" cy="101600"/>
          </a:xfrm>
          <a:prstGeom prst="rect">
            <a:avLst/>
          </a:prstGeom>
          <a:solidFill>
            <a:srgbClr val="117D8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id="{F544E1F5-AA65-714A-A244-1C5696A8ADBE}"/>
              </a:ext>
            </a:extLst>
          </p:cNvPr>
          <p:cNvSpPr/>
          <p:nvPr/>
        </p:nvSpPr>
        <p:spPr>
          <a:xfrm>
            <a:off x="3708400" y="1752600"/>
            <a:ext cx="508000" cy="508000"/>
          </a:xfrm>
          <a:prstGeom prst="ellipse">
            <a:avLst/>
          </a:prstGeom>
          <a:solidFill>
            <a:srgbClr val="117D8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37BBD44-261D-D546-A334-100AAC5AC485}"/>
              </a:ext>
            </a:extLst>
          </p:cNvPr>
          <p:cNvSpPr txBox="1"/>
          <p:nvPr/>
        </p:nvSpPr>
        <p:spPr>
          <a:xfrm>
            <a:off x="3022600" y="2362200"/>
            <a:ext cx="1879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600" b="1">
                <a:solidFill>
                  <a:srgbClr val="1D2433"/>
                </a:solidFill>
              </a:rPr>
              <a:t>Gemini Extraction</a:t>
            </a:r>
            <a:endParaRPr lang="ru-RU" sz="1600" b="1">
              <a:solidFill>
                <a:srgbClr val="1D2433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0D245E-4E36-BB4F-BD6F-1E5C9F2FA788}"/>
              </a:ext>
            </a:extLst>
          </p:cNvPr>
          <p:cNvSpPr txBox="1"/>
          <p:nvPr/>
        </p:nvSpPr>
        <p:spPr>
          <a:xfrm>
            <a:off x="3022600" y="28702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400">
                <a:solidFill>
                  <a:srgbClr val="6B7280"/>
                </a:solidFill>
              </a:rPr>
              <a:t>structured
JSON items</a:t>
            </a:r>
            <a:endParaRPr lang="ru-RU" sz="1400">
              <a:solidFill>
                <a:srgbClr val="6B7280"/>
              </a:solidFill>
            </a:endParaRPr>
          </a:p>
        </p:txBody>
      </p:sp>
      <p:sp>
        <p:nvSpPr>
          <p:cNvPr id="85" name="Стрелка вправо 84">
            <a:extLst>
              <a:ext uri="{FF2B5EF4-FFF2-40B4-BE49-F238E27FC236}">
                <a16:creationId xmlns:a16="http://schemas.microsoft.com/office/drawing/2014/main" id="{4D1CC77A-B14B-DC4C-9FF3-BAEA6E5EEB0F}"/>
              </a:ext>
            </a:extLst>
          </p:cNvPr>
          <p:cNvSpPr/>
          <p:nvPr/>
        </p:nvSpPr>
        <p:spPr>
          <a:xfrm>
            <a:off x="4991100" y="2336800"/>
            <a:ext cx="152400" cy="381000"/>
          </a:xfrm>
          <a:prstGeom prst="rightArrow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3644912B-FA59-0942-955E-EEB382E61BB9}"/>
              </a:ext>
            </a:extLst>
          </p:cNvPr>
          <p:cNvSpPr/>
          <p:nvPr/>
        </p:nvSpPr>
        <p:spPr>
          <a:xfrm>
            <a:off x="5130800" y="1498600"/>
            <a:ext cx="2082800" cy="2057400"/>
          </a:xfrm>
          <a:prstGeom prst="rect">
            <a:avLst/>
          </a:prstGeom>
          <a:solidFill>
            <a:srgbClr val="0A2C52"/>
          </a:solidFill>
          <a:ln w="12700" cap="flat" cmpd="sng" algn="ctr">
            <a:solidFill>
              <a:srgbClr val="0A2C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87" name="Прямоугольник 86">
            <a:extLst>
              <a:ext uri="{FF2B5EF4-FFF2-40B4-BE49-F238E27FC236}">
                <a16:creationId xmlns:a16="http://schemas.microsoft.com/office/drawing/2014/main" id="{3690845B-AB06-844D-BF60-A6B7213A0227}"/>
              </a:ext>
            </a:extLst>
          </p:cNvPr>
          <p:cNvSpPr/>
          <p:nvPr/>
        </p:nvSpPr>
        <p:spPr>
          <a:xfrm>
            <a:off x="5130800" y="1498600"/>
            <a:ext cx="2082800" cy="1016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88" name="Овал 87">
            <a:extLst>
              <a:ext uri="{FF2B5EF4-FFF2-40B4-BE49-F238E27FC236}">
                <a16:creationId xmlns:a16="http://schemas.microsoft.com/office/drawing/2014/main" id="{304E4158-5EB5-714D-A0C7-B18E7FC3BB6C}"/>
              </a:ext>
            </a:extLst>
          </p:cNvPr>
          <p:cNvSpPr/>
          <p:nvPr/>
        </p:nvSpPr>
        <p:spPr>
          <a:xfrm>
            <a:off x="5918200" y="1752600"/>
            <a:ext cx="508000" cy="508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b="1">
                <a:solidFill>
                  <a:srgbClr val="0A2C52"/>
                </a:solidFill>
              </a:rPr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CB2C597-CA65-D343-B6AF-0C6025C54A32}"/>
              </a:ext>
            </a:extLst>
          </p:cNvPr>
          <p:cNvSpPr txBox="1"/>
          <p:nvPr/>
        </p:nvSpPr>
        <p:spPr>
          <a:xfrm>
            <a:off x="5232400" y="2362200"/>
            <a:ext cx="1879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600" b="1">
                <a:solidFill>
                  <a:srgbClr val="FFFFFF"/>
                </a:solidFill>
              </a:rPr>
              <a:t>3-Stage Matching</a:t>
            </a:r>
            <a:endParaRPr lang="ru-RU" sz="1600" b="1">
              <a:solidFill>
                <a:srgbClr val="FFFFFF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8113ACA-C0F6-4448-B6E6-3122C2EA2A94}"/>
              </a:ext>
            </a:extLst>
          </p:cNvPr>
          <p:cNvSpPr txBox="1"/>
          <p:nvPr/>
        </p:nvSpPr>
        <p:spPr>
          <a:xfrm>
            <a:off x="5232400" y="28702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400">
                <a:solidFill>
                  <a:srgbClr val="D6E0EC"/>
                </a:solidFill>
              </a:rPr>
              <a:t>core NLP
component</a:t>
            </a:r>
            <a:endParaRPr lang="ru-RU" sz="1400">
              <a:solidFill>
                <a:srgbClr val="D6E0EC"/>
              </a:solidFill>
            </a:endParaRPr>
          </a:p>
        </p:txBody>
      </p:sp>
      <p:sp>
        <p:nvSpPr>
          <p:cNvPr id="91" name="Стрелка вправо 90">
            <a:extLst>
              <a:ext uri="{FF2B5EF4-FFF2-40B4-BE49-F238E27FC236}">
                <a16:creationId xmlns:a16="http://schemas.microsoft.com/office/drawing/2014/main" id="{B3D9BF2F-8BF3-AE4E-B71B-8330626A1FB9}"/>
              </a:ext>
            </a:extLst>
          </p:cNvPr>
          <p:cNvSpPr/>
          <p:nvPr/>
        </p:nvSpPr>
        <p:spPr>
          <a:xfrm>
            <a:off x="7200900" y="2336800"/>
            <a:ext cx="152400" cy="381000"/>
          </a:xfrm>
          <a:prstGeom prst="rightArrow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ABEECE4E-5E86-C244-9831-7F24A270BB30}"/>
              </a:ext>
            </a:extLst>
          </p:cNvPr>
          <p:cNvSpPr/>
          <p:nvPr/>
        </p:nvSpPr>
        <p:spPr>
          <a:xfrm>
            <a:off x="7340600" y="1498600"/>
            <a:ext cx="2082800" cy="2057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8E0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34896722-7D46-3344-8353-8CAA8C610FC4}"/>
              </a:ext>
            </a:extLst>
          </p:cNvPr>
          <p:cNvSpPr/>
          <p:nvPr/>
        </p:nvSpPr>
        <p:spPr>
          <a:xfrm>
            <a:off x="7340600" y="1498600"/>
            <a:ext cx="2082800" cy="1016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895560FF-F7CA-EE40-A708-41ECBE2B477E}"/>
              </a:ext>
            </a:extLst>
          </p:cNvPr>
          <p:cNvSpPr/>
          <p:nvPr/>
        </p:nvSpPr>
        <p:spPr>
          <a:xfrm>
            <a:off x="8128000" y="1752600"/>
            <a:ext cx="508000" cy="508000"/>
          </a:xfrm>
          <a:prstGeom prst="ellipse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7EED867-926D-A24E-A8A1-DBB934E1D100}"/>
              </a:ext>
            </a:extLst>
          </p:cNvPr>
          <p:cNvSpPr txBox="1"/>
          <p:nvPr/>
        </p:nvSpPr>
        <p:spPr>
          <a:xfrm>
            <a:off x="7442200" y="2362200"/>
            <a:ext cx="1879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600" b="1">
                <a:solidFill>
                  <a:srgbClr val="1D2433"/>
                </a:solidFill>
              </a:rPr>
              <a:t>Confidence Check</a:t>
            </a:r>
            <a:endParaRPr lang="ru-RU" sz="1600" b="1">
              <a:solidFill>
                <a:srgbClr val="1D2433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1585F04-6B21-FF4C-841E-39AE6AECC9F8}"/>
              </a:ext>
            </a:extLst>
          </p:cNvPr>
          <p:cNvSpPr txBox="1"/>
          <p:nvPr/>
        </p:nvSpPr>
        <p:spPr>
          <a:xfrm>
            <a:off x="7442200" y="28702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400">
                <a:solidFill>
                  <a:srgbClr val="6B7280"/>
                </a:solidFill>
              </a:rPr>
              <a:t>threshold = 85</a:t>
            </a:r>
            <a:endParaRPr lang="ru-RU" sz="1400">
              <a:solidFill>
                <a:srgbClr val="6B7280"/>
              </a:solidFill>
            </a:endParaRPr>
          </a:p>
        </p:txBody>
      </p:sp>
      <p:sp>
        <p:nvSpPr>
          <p:cNvPr id="97" name="Стрелка вправо 96">
            <a:extLst>
              <a:ext uri="{FF2B5EF4-FFF2-40B4-BE49-F238E27FC236}">
                <a16:creationId xmlns:a16="http://schemas.microsoft.com/office/drawing/2014/main" id="{5D37F0EA-FDE3-3C4A-891F-1C16BA82C243}"/>
              </a:ext>
            </a:extLst>
          </p:cNvPr>
          <p:cNvSpPr/>
          <p:nvPr/>
        </p:nvSpPr>
        <p:spPr>
          <a:xfrm>
            <a:off x="9410700" y="2336800"/>
            <a:ext cx="152400" cy="381000"/>
          </a:xfrm>
          <a:prstGeom prst="rightArrow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42D13751-5226-5A49-99CD-093A8188840B}"/>
              </a:ext>
            </a:extLst>
          </p:cNvPr>
          <p:cNvSpPr/>
          <p:nvPr/>
        </p:nvSpPr>
        <p:spPr>
          <a:xfrm>
            <a:off x="9550400" y="1498600"/>
            <a:ext cx="2082800" cy="2057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8E0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6F842342-737E-8C4A-B81B-67B83F56AA59}"/>
              </a:ext>
            </a:extLst>
          </p:cNvPr>
          <p:cNvSpPr/>
          <p:nvPr/>
        </p:nvSpPr>
        <p:spPr>
          <a:xfrm>
            <a:off x="9550400" y="1498600"/>
            <a:ext cx="2082800" cy="101600"/>
          </a:xfrm>
          <a:prstGeom prst="rect">
            <a:avLst/>
          </a:prstGeom>
          <a:solidFill>
            <a:srgbClr val="20A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00" name="Овал 99">
            <a:extLst>
              <a:ext uri="{FF2B5EF4-FFF2-40B4-BE49-F238E27FC236}">
                <a16:creationId xmlns:a16="http://schemas.microsoft.com/office/drawing/2014/main" id="{D81E952D-B90B-1A49-816D-45F8ACB1C33C}"/>
              </a:ext>
            </a:extLst>
          </p:cNvPr>
          <p:cNvSpPr/>
          <p:nvPr/>
        </p:nvSpPr>
        <p:spPr>
          <a:xfrm>
            <a:off x="10337800" y="1752600"/>
            <a:ext cx="508000" cy="508000"/>
          </a:xfrm>
          <a:prstGeom prst="ellipse">
            <a:avLst/>
          </a:prstGeom>
          <a:solidFill>
            <a:srgbClr val="20A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1CE3C9C-61AA-B24F-9ED0-51EB53B3B586}"/>
              </a:ext>
            </a:extLst>
          </p:cNvPr>
          <p:cNvSpPr txBox="1"/>
          <p:nvPr/>
        </p:nvSpPr>
        <p:spPr>
          <a:xfrm>
            <a:off x="9652000" y="2362200"/>
            <a:ext cx="1879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600" b="1">
                <a:solidFill>
                  <a:srgbClr val="1D2433"/>
                </a:solidFill>
              </a:rPr>
              <a:t>ERP Output</a:t>
            </a:r>
            <a:endParaRPr lang="ru-RU" sz="1600" b="1">
              <a:solidFill>
                <a:srgbClr val="1D2433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0CD434A-FF74-5444-9561-07C0C6B8F126}"/>
              </a:ext>
            </a:extLst>
          </p:cNvPr>
          <p:cNvSpPr txBox="1"/>
          <p:nvPr/>
        </p:nvSpPr>
        <p:spPr>
          <a:xfrm>
            <a:off x="9652000" y="28702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400">
                <a:solidFill>
                  <a:srgbClr val="6B7280"/>
                </a:solidFill>
              </a:rPr>
              <a:t>codes · units
clean JSON</a:t>
            </a:r>
            <a:endParaRPr lang="ru-RU" sz="1400">
              <a:solidFill>
                <a:srgbClr val="6B7280"/>
              </a:solidFill>
            </a:endParaRPr>
          </a:p>
        </p:txBody>
      </p:sp>
      <p:sp>
        <p:nvSpPr>
          <p:cNvPr id="103" name="Стрелка вниз 102">
            <a:extLst>
              <a:ext uri="{FF2B5EF4-FFF2-40B4-BE49-F238E27FC236}">
                <a16:creationId xmlns:a16="http://schemas.microsoft.com/office/drawing/2014/main" id="{D9B42C19-FBEB-5341-93E9-C726B70C3C04}"/>
              </a:ext>
            </a:extLst>
          </p:cNvPr>
          <p:cNvSpPr/>
          <p:nvPr/>
        </p:nvSpPr>
        <p:spPr>
          <a:xfrm>
            <a:off x="6007100" y="3581400"/>
            <a:ext cx="330200" cy="279400"/>
          </a:xfrm>
          <a:prstGeom prst="downArrow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6E47FCD1-CD29-E946-8449-B3CFA5238C7F}"/>
              </a:ext>
            </a:extLst>
          </p:cNvPr>
          <p:cNvSpPr/>
          <p:nvPr/>
        </p:nvSpPr>
        <p:spPr>
          <a:xfrm>
            <a:off x="3759200" y="3911600"/>
            <a:ext cx="4826000" cy="1270000"/>
          </a:xfrm>
          <a:prstGeom prst="rect">
            <a:avLst/>
          </a:prstGeom>
          <a:solidFill>
            <a:srgbClr val="EEF3F8"/>
          </a:solidFill>
          <a:ln w="15875" cap="flat" cmpd="sng" algn="ctr">
            <a:solidFill>
              <a:srgbClr val="0A2C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1B2FF1DA-C4FA-0341-B0CA-44867F7FD469}"/>
              </a:ext>
            </a:extLst>
          </p:cNvPr>
          <p:cNvSpPr/>
          <p:nvPr/>
        </p:nvSpPr>
        <p:spPr>
          <a:xfrm>
            <a:off x="3759200" y="3911600"/>
            <a:ext cx="101600" cy="1270000"/>
          </a:xfrm>
          <a:prstGeom prst="rect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0155946-19E9-D248-9913-6738BF766A29}"/>
              </a:ext>
            </a:extLst>
          </p:cNvPr>
          <p:cNvSpPr txBox="1"/>
          <p:nvPr/>
        </p:nvSpPr>
        <p:spPr>
          <a:xfrm>
            <a:off x="4064000" y="40386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300" b="1">
                <a:solidFill>
                  <a:srgbClr val="6B7280"/>
                </a:solidFill>
              </a:rPr>
              <a:t>INSIDE THE MATCHING STAGE</a:t>
            </a:r>
            <a:endParaRPr lang="ru-RU" sz="1300" b="1">
              <a:solidFill>
                <a:srgbClr val="6B728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A0681F9-2F4F-5846-B26C-D16A50A0D364}"/>
              </a:ext>
            </a:extLst>
          </p:cNvPr>
          <p:cNvSpPr txBox="1"/>
          <p:nvPr/>
        </p:nvSpPr>
        <p:spPr>
          <a:xfrm>
            <a:off x="4064000" y="4419600"/>
            <a:ext cx="4318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sz="1600" b="1">
                <a:solidFill>
                  <a:srgbClr val="0A2C52"/>
                </a:solidFill>
              </a:rPr>
              <a:t>①  Customer Template      ②  Fuzzy Scoring      ③  Catalog Fallback</a:t>
            </a:r>
            <a:endParaRPr lang="ru-RU" sz="1600" b="1">
              <a:solidFill>
                <a:srgbClr val="0A2C52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38B012BB-D805-904E-A936-2598C258A641}"/>
              </a:ext>
            </a:extLst>
          </p:cNvPr>
          <p:cNvSpPr/>
          <p:nvPr/>
        </p:nvSpPr>
        <p:spPr>
          <a:xfrm>
            <a:off x="711200" y="5384800"/>
            <a:ext cx="10769600" cy="6096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C07067D-84FC-954E-B370-7784598E7B71}"/>
              </a:ext>
            </a:extLst>
          </p:cNvPr>
          <p:cNvSpPr txBox="1"/>
          <p:nvPr/>
        </p:nvSpPr>
        <p:spPr>
          <a:xfrm>
            <a:off x="965200" y="5384800"/>
            <a:ext cx="102616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sz="1600" b="1">
                <a:solidFill>
                  <a:srgbClr val="FFFFFF"/>
                </a:solidFill>
              </a:rPr>
              <a:t>↺   Feedback loop — every confirmed order makes the matching smarter</a:t>
            </a:r>
            <a:endParaRPr lang="ru-RU" sz="1600" b="1">
              <a:solidFill>
                <a:srgbClr val="FFFFFF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E6CFC1D-41F9-2F41-A5F2-2BF73AEE8C86}"/>
              </a:ext>
            </a:extLst>
          </p:cNvPr>
          <p:cNvSpPr txBox="1"/>
          <p:nvPr/>
        </p:nvSpPr>
        <p:spPr>
          <a:xfrm>
            <a:off x="914400" y="6121400"/>
            <a:ext cx="1036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400" i="1">
                <a:solidFill>
                  <a:srgbClr val="6B7280"/>
                </a:solidFill>
              </a:rPr>
              <a:t>The three-stage matching is the core NLP component — it narrows the search space using customer history before falling back to probabilistic scoring across the full catalog.</a:t>
            </a:r>
            <a:endParaRPr lang="ru-RU" sz="1400" i="1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258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D49C6E2-F688-874A-9B25-4747749C0EA5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EC95A8F-450A-034D-829F-A8EF062E21DC}"/>
              </a:ext>
            </a:extLst>
          </p:cNvPr>
          <p:cNvSpPr/>
          <p:nvPr/>
        </p:nvSpPr>
        <p:spPr>
          <a:xfrm>
            <a:off x="0" y="0"/>
            <a:ext cx="101600" cy="11684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56F0A6-4630-2A4A-9D7F-CF50653ED9EF}"/>
              </a:ext>
            </a:extLst>
          </p:cNvPr>
          <p:cNvSpPr txBox="1"/>
          <p:nvPr/>
        </p:nvSpPr>
        <p:spPr>
          <a:xfrm>
            <a:off x="508000" y="203200"/>
            <a:ext cx="11176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2600" b="1">
                <a:solidFill>
                  <a:srgbClr val="FFFFFF"/>
                </a:solidFill>
              </a:rPr>
              <a:t>How Matching Works: Three Stages</a:t>
            </a:r>
            <a:endParaRPr lang="ru-RU" sz="2600" b="1">
              <a:solidFill>
                <a:srgbClr val="FFFF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8CC3D5-85D9-EF46-A711-5C4D0C12B8B4}"/>
              </a:ext>
            </a:extLst>
          </p:cNvPr>
          <p:cNvSpPr txBox="1"/>
          <p:nvPr/>
        </p:nvSpPr>
        <p:spPr>
          <a:xfrm>
            <a:off x="533400" y="7112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400">
                <a:solidFill>
                  <a:srgbClr val="AEC0D6"/>
                </a:solidFill>
              </a:rPr>
              <a:t>A funnel that narrows 6,460 catalog items down to one confident match</a:t>
            </a:r>
            <a:endParaRPr lang="ru-RU" sz="1400">
              <a:solidFill>
                <a:srgbClr val="AEC0D6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72E1FC9-FEA1-2040-8D0C-D197F356D9EE}"/>
              </a:ext>
            </a:extLst>
          </p:cNvPr>
          <p:cNvSpPr/>
          <p:nvPr/>
        </p:nvSpPr>
        <p:spPr>
          <a:xfrm>
            <a:off x="711200" y="1512341"/>
            <a:ext cx="10769600" cy="12446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D8E0EA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A623D5A-4082-7D44-ACA8-CA5495D990C6}"/>
              </a:ext>
            </a:extLst>
          </p:cNvPr>
          <p:cNvSpPr/>
          <p:nvPr/>
        </p:nvSpPr>
        <p:spPr>
          <a:xfrm>
            <a:off x="711200" y="1512341"/>
            <a:ext cx="101600" cy="1244600"/>
          </a:xfrm>
          <a:prstGeom prst="rect">
            <a:avLst/>
          </a:prstGeom>
          <a:solidFill>
            <a:srgbClr val="0058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03260A37-4580-1042-95BC-7024F4FE2BBF}"/>
              </a:ext>
            </a:extLst>
          </p:cNvPr>
          <p:cNvSpPr/>
          <p:nvPr/>
        </p:nvSpPr>
        <p:spPr>
          <a:xfrm>
            <a:off x="1016000" y="1753641"/>
            <a:ext cx="762000" cy="762000"/>
          </a:xfrm>
          <a:prstGeom prst="ellipse">
            <a:avLst/>
          </a:prstGeom>
          <a:solidFill>
            <a:srgbClr val="0058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BFED19-E09B-7F47-88AE-7164C4DB694A}"/>
              </a:ext>
            </a:extLst>
          </p:cNvPr>
          <p:cNvSpPr txBox="1"/>
          <p:nvPr/>
        </p:nvSpPr>
        <p:spPr>
          <a:xfrm>
            <a:off x="1981200" y="1702841"/>
            <a:ext cx="9245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700" b="1">
                <a:solidFill>
                  <a:srgbClr val="0058A5"/>
                </a:solidFill>
              </a:rPr>
              <a:t>Stage 1 · Customer Template</a:t>
            </a:r>
            <a:endParaRPr lang="ru-RU" sz="1700" b="1">
              <a:solidFill>
                <a:srgbClr val="0058A5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6F837A-F874-BE48-A01A-2C44D95734B4}"/>
              </a:ext>
            </a:extLst>
          </p:cNvPr>
          <p:cNvSpPr txBox="1"/>
          <p:nvPr/>
        </p:nvSpPr>
        <p:spPr>
          <a:xfrm>
            <a:off x="1981200" y="2058441"/>
            <a:ext cx="92456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350" dirty="0">
                <a:solidFill>
                  <a:srgbClr val="1D2433"/>
                </a:solidFill>
              </a:rPr>
              <a:t>Search only the ~50–100 items this customer ordered before  ·  +8 history boost  ·  Why: restaurants reorder the same products weekly</a:t>
            </a:r>
            <a:endParaRPr lang="ru-RU" sz="1350" dirty="0">
              <a:solidFill>
                <a:srgbClr val="1D2433"/>
              </a:solidFill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F514E3A-EB84-6D4B-9B84-C4625436B38B}"/>
              </a:ext>
            </a:extLst>
          </p:cNvPr>
          <p:cNvSpPr/>
          <p:nvPr/>
        </p:nvSpPr>
        <p:spPr>
          <a:xfrm>
            <a:off x="1480089" y="3130068"/>
            <a:ext cx="9398000" cy="1244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8E0EA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9E878B1-3218-B047-B0BD-BC1AE0737289}"/>
              </a:ext>
            </a:extLst>
          </p:cNvPr>
          <p:cNvSpPr/>
          <p:nvPr/>
        </p:nvSpPr>
        <p:spPr>
          <a:xfrm>
            <a:off x="1480089" y="3130068"/>
            <a:ext cx="101600" cy="1244600"/>
          </a:xfrm>
          <a:prstGeom prst="rect">
            <a:avLst/>
          </a:prstGeom>
          <a:solidFill>
            <a:srgbClr val="117D8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213FC7CC-C4AC-C94F-B3CB-484F70BFAEA6}"/>
              </a:ext>
            </a:extLst>
          </p:cNvPr>
          <p:cNvSpPr/>
          <p:nvPr/>
        </p:nvSpPr>
        <p:spPr>
          <a:xfrm>
            <a:off x="1784889" y="3371368"/>
            <a:ext cx="762000" cy="762000"/>
          </a:xfrm>
          <a:prstGeom prst="ellipse">
            <a:avLst/>
          </a:prstGeom>
          <a:solidFill>
            <a:srgbClr val="117D8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sz="3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0E6B2C-EEC1-7143-9EAD-AE9B9AB09A67}"/>
              </a:ext>
            </a:extLst>
          </p:cNvPr>
          <p:cNvSpPr txBox="1"/>
          <p:nvPr/>
        </p:nvSpPr>
        <p:spPr>
          <a:xfrm>
            <a:off x="2750089" y="3320568"/>
            <a:ext cx="787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700" b="1">
                <a:solidFill>
                  <a:srgbClr val="117D89"/>
                </a:solidFill>
              </a:rPr>
              <a:t>Stage 2 · Fuzzy Probabilistic Scoring</a:t>
            </a:r>
            <a:endParaRPr lang="ru-RU" sz="1700" b="1">
              <a:solidFill>
                <a:srgbClr val="117D89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9B0E18-8702-1D4E-8E2F-9C6ED59ECB10}"/>
              </a:ext>
            </a:extLst>
          </p:cNvPr>
          <p:cNvSpPr txBox="1"/>
          <p:nvPr/>
        </p:nvSpPr>
        <p:spPr>
          <a:xfrm>
            <a:off x="2750089" y="3676168"/>
            <a:ext cx="7874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350">
                <a:solidFill>
                  <a:srgbClr val="1D2433"/>
                </a:solidFill>
              </a:rPr>
              <a:t>token_set_ratio + token_sort_ratio + partial_ratio  ·  umlaut normalization (ä→a), compound splitting, multilingual synonyms  ·  Why: word order is irrelevant</a:t>
            </a:r>
            <a:endParaRPr lang="ru-RU" sz="1350">
              <a:solidFill>
                <a:srgbClr val="1D2433"/>
              </a:solidFill>
            </a:endParaRPr>
          </a:p>
        </p:txBody>
      </p:sp>
      <p:sp>
        <p:nvSpPr>
          <p:cNvPr id="37" name="Стрелка вниз 36">
            <a:extLst>
              <a:ext uri="{FF2B5EF4-FFF2-40B4-BE49-F238E27FC236}">
                <a16:creationId xmlns:a16="http://schemas.microsoft.com/office/drawing/2014/main" id="{D2FC1E79-C7DC-804C-ADD2-3ED12D94B5FA}"/>
              </a:ext>
            </a:extLst>
          </p:cNvPr>
          <p:cNvSpPr/>
          <p:nvPr/>
        </p:nvSpPr>
        <p:spPr>
          <a:xfrm>
            <a:off x="5765800" y="4449032"/>
            <a:ext cx="660400" cy="241300"/>
          </a:xfrm>
          <a:prstGeom prst="downArrow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124F50BD-A7F7-6E4A-9E18-86F04C26AC83}"/>
              </a:ext>
            </a:extLst>
          </p:cNvPr>
          <p:cNvSpPr/>
          <p:nvPr/>
        </p:nvSpPr>
        <p:spPr>
          <a:xfrm>
            <a:off x="2055765" y="4748381"/>
            <a:ext cx="8026400" cy="1244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8E0EA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421BE235-B11D-CF42-A937-C9112E82D042}"/>
              </a:ext>
            </a:extLst>
          </p:cNvPr>
          <p:cNvSpPr/>
          <p:nvPr/>
        </p:nvSpPr>
        <p:spPr>
          <a:xfrm>
            <a:off x="2055765" y="4748381"/>
            <a:ext cx="101600" cy="12446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F376D712-8C9A-154E-AE8F-1C9582A81F1A}"/>
              </a:ext>
            </a:extLst>
          </p:cNvPr>
          <p:cNvSpPr/>
          <p:nvPr/>
        </p:nvSpPr>
        <p:spPr>
          <a:xfrm>
            <a:off x="2360565" y="4989681"/>
            <a:ext cx="762000" cy="762000"/>
          </a:xfrm>
          <a:prstGeom prst="ellipse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sz="3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820475-CCE3-E745-A6AD-B924802E554A}"/>
              </a:ext>
            </a:extLst>
          </p:cNvPr>
          <p:cNvSpPr txBox="1"/>
          <p:nvPr/>
        </p:nvSpPr>
        <p:spPr>
          <a:xfrm>
            <a:off x="3325765" y="4938881"/>
            <a:ext cx="6502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700" b="1">
                <a:solidFill>
                  <a:srgbClr val="E8902A"/>
                </a:solidFill>
              </a:rPr>
              <a:t>Stage 3 · Full Catalog Fallback</a:t>
            </a:r>
            <a:endParaRPr lang="ru-RU" sz="1700" b="1">
              <a:solidFill>
                <a:srgbClr val="E8902A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5C5261-CF10-8942-80B7-1A4B9E1E465C}"/>
              </a:ext>
            </a:extLst>
          </p:cNvPr>
          <p:cNvSpPr txBox="1"/>
          <p:nvPr/>
        </p:nvSpPr>
        <p:spPr>
          <a:xfrm>
            <a:off x="3325765" y="5294481"/>
            <a:ext cx="6502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350" dirty="0">
                <a:solidFill>
                  <a:srgbClr val="1D2433"/>
                </a:solidFill>
              </a:rPr>
              <a:t>Triggered only when score &lt; 85  ·  searches all 6,460 items  ·  overrides the template result only if the catalog score is strictly higher</a:t>
            </a:r>
            <a:endParaRPr lang="ru-RU" sz="1350" dirty="0">
              <a:solidFill>
                <a:srgbClr val="1D2433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316827-FBE5-7D41-A444-45AEAD8B9B9D}"/>
              </a:ext>
            </a:extLst>
          </p:cNvPr>
          <p:cNvSpPr txBox="1"/>
          <p:nvPr/>
        </p:nvSpPr>
        <p:spPr>
          <a:xfrm>
            <a:off x="1723755" y="6183481"/>
            <a:ext cx="8795289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350" i="1" dirty="0">
                <a:solidFill>
                  <a:srgbClr val="6B7280"/>
                </a:solidFill>
              </a:rPr>
              <a:t>Customer history acts as a prior — most orders never reach the full-catalog search, keeping matching fast and accurate.</a:t>
            </a:r>
            <a:endParaRPr lang="ru-RU" sz="1350" i="1" dirty="0">
              <a:solidFill>
                <a:srgbClr val="6B7280"/>
              </a:solidFill>
            </a:endParaRPr>
          </a:p>
        </p:txBody>
      </p:sp>
      <p:sp>
        <p:nvSpPr>
          <p:cNvPr id="44" name="Стрелка вниз 43">
            <a:extLst>
              <a:ext uri="{FF2B5EF4-FFF2-40B4-BE49-F238E27FC236}">
                <a16:creationId xmlns:a16="http://schemas.microsoft.com/office/drawing/2014/main" id="{89FA1647-E845-AFC7-D1CD-1466EF48CF37}"/>
              </a:ext>
            </a:extLst>
          </p:cNvPr>
          <p:cNvSpPr/>
          <p:nvPr/>
        </p:nvSpPr>
        <p:spPr>
          <a:xfrm>
            <a:off x="5765800" y="2849446"/>
            <a:ext cx="660400" cy="241300"/>
          </a:xfrm>
          <a:prstGeom prst="downArrow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611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3159ECD-659B-6B4A-A5A1-BF7813C5B433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4467CD8-9BA7-D843-84AC-E3B8328A0A78}"/>
              </a:ext>
            </a:extLst>
          </p:cNvPr>
          <p:cNvSpPr/>
          <p:nvPr/>
        </p:nvSpPr>
        <p:spPr>
          <a:xfrm>
            <a:off x="0" y="0"/>
            <a:ext cx="101600" cy="11684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351B23-A952-0544-A6D9-A556D53D16D1}"/>
              </a:ext>
            </a:extLst>
          </p:cNvPr>
          <p:cNvSpPr txBox="1"/>
          <p:nvPr/>
        </p:nvSpPr>
        <p:spPr>
          <a:xfrm>
            <a:off x="508000" y="203200"/>
            <a:ext cx="11176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2600" b="1" dirty="0">
                <a:solidFill>
                  <a:srgbClr val="FFFFFF"/>
                </a:solidFill>
              </a:rPr>
              <a:t>Challenges and Solutions</a:t>
            </a:r>
            <a:endParaRPr lang="ru-RU" sz="2600" b="1" dirty="0">
              <a:solidFill>
                <a:srgbClr val="FFFF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48E8F4-6689-A540-A8F6-970AE9A3ADA5}"/>
              </a:ext>
            </a:extLst>
          </p:cNvPr>
          <p:cNvSpPr txBox="1"/>
          <p:nvPr/>
        </p:nvSpPr>
        <p:spPr>
          <a:xfrm>
            <a:off x="533400" y="7112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400" dirty="0" err="1">
                <a:solidFill>
                  <a:srgbClr val="AEC0D6"/>
                </a:solidFill>
              </a:rPr>
              <a:t>S</a:t>
            </a:r>
            <a:r>
              <a:rPr lang="en-US" sz="1400" dirty="0">
                <a:solidFill>
                  <a:srgbClr val="AEC0D6"/>
                </a:solidFill>
              </a:rPr>
              <a:t>ix </a:t>
            </a:r>
            <a:r>
              <a:rPr lang="en" sz="1400" dirty="0">
                <a:solidFill>
                  <a:srgbClr val="AEC0D6"/>
                </a:solidFill>
              </a:rPr>
              <a:t>real engineering hurdles encountered while building the pipeline</a:t>
            </a:r>
            <a:endParaRPr lang="ru-RU" sz="1400" dirty="0">
              <a:solidFill>
                <a:srgbClr val="AEC0D6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E6EE5E7-9A44-0145-BDED-3AD5BD1B488C}"/>
              </a:ext>
            </a:extLst>
          </p:cNvPr>
          <p:cNvSpPr/>
          <p:nvPr/>
        </p:nvSpPr>
        <p:spPr>
          <a:xfrm>
            <a:off x="711200" y="1371600"/>
            <a:ext cx="5156200" cy="1526322"/>
          </a:xfrm>
          <a:prstGeom prst="rect">
            <a:avLst/>
          </a:prstGeom>
          <a:noFill/>
          <a:ln>
            <a:solidFill>
              <a:srgbClr val="0058A6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A2F106-4E74-8040-8095-D3DB8A3499B8}"/>
              </a:ext>
            </a:extLst>
          </p:cNvPr>
          <p:cNvSpPr/>
          <p:nvPr/>
        </p:nvSpPr>
        <p:spPr>
          <a:xfrm>
            <a:off x="1295400" y="1438237"/>
            <a:ext cx="5156200" cy="292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" sz="1600" b="1" dirty="0">
                <a:solidFill>
                  <a:srgbClr val="0A2B52"/>
                </a:solidFill>
              </a:rPr>
              <a:t>CHALLENGE 1  —  Gemini Library &amp; Model</a:t>
            </a:r>
            <a:endParaRPr lang="ru-RU" sz="1600" b="1" dirty="0">
              <a:solidFill>
                <a:srgbClr val="0A2B5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2ACC03-59CF-384A-9C86-AFF4B3271730}"/>
              </a:ext>
            </a:extLst>
          </p:cNvPr>
          <p:cNvSpPr txBox="1"/>
          <p:nvPr/>
        </p:nvSpPr>
        <p:spPr>
          <a:xfrm>
            <a:off x="711200" y="1843905"/>
            <a:ext cx="5156200" cy="10567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i="1" dirty="0">
                <a:solidFill>
                  <a:srgbClr val="E99029"/>
                </a:solidFill>
              </a:rPr>
              <a:t>Problem: Original extraction library deprecated; </a:t>
            </a:r>
            <a:endParaRPr lang="ru-RU" sz="1400" i="1" dirty="0">
              <a:solidFill>
                <a:srgbClr val="E99029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400" i="1" dirty="0">
                <a:solidFill>
                  <a:srgbClr val="E99029"/>
                </a:solidFill>
              </a:rPr>
              <a:t>model not available</a:t>
            </a:r>
            <a:endParaRPr lang="ru-RU" sz="1000" i="1" dirty="0">
              <a:solidFill>
                <a:srgbClr val="E99029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07D89"/>
                </a:solidFill>
              </a:rPr>
              <a:t>SOLUTION: </a:t>
            </a:r>
            <a:r>
              <a:rPr lang="en" sz="1400" dirty="0">
                <a:solidFill>
                  <a:srgbClr val="107D89"/>
                </a:solidFill>
              </a:rPr>
              <a:t>Switched to supported Gemini version; updated extraction prompts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1BA4E46-45EE-E516-7DAF-762BBBFD5847}"/>
              </a:ext>
            </a:extLst>
          </p:cNvPr>
          <p:cNvSpPr/>
          <p:nvPr/>
        </p:nvSpPr>
        <p:spPr>
          <a:xfrm>
            <a:off x="711200" y="3196918"/>
            <a:ext cx="5156200" cy="1526322"/>
          </a:xfrm>
          <a:prstGeom prst="rect">
            <a:avLst/>
          </a:prstGeom>
          <a:noFill/>
          <a:ln>
            <a:solidFill>
              <a:srgbClr val="0058A6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AC4E85-BE82-F55C-BA01-21EB4B4D8C75}"/>
              </a:ext>
            </a:extLst>
          </p:cNvPr>
          <p:cNvSpPr/>
          <p:nvPr/>
        </p:nvSpPr>
        <p:spPr>
          <a:xfrm>
            <a:off x="1295400" y="3263555"/>
            <a:ext cx="5156200" cy="292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" sz="1600" b="1" dirty="0">
                <a:solidFill>
                  <a:srgbClr val="0A2B52"/>
                </a:solidFill>
              </a:rPr>
              <a:t>CHALLENGE </a:t>
            </a:r>
            <a:r>
              <a:rPr lang="ru-RU" sz="1600" b="1" dirty="0">
                <a:solidFill>
                  <a:srgbClr val="0A2B52"/>
                </a:solidFill>
              </a:rPr>
              <a:t>2</a:t>
            </a:r>
            <a:r>
              <a:rPr lang="en" sz="1600" b="1" dirty="0">
                <a:solidFill>
                  <a:srgbClr val="0A2B52"/>
                </a:solidFill>
              </a:rPr>
              <a:t>  —  Multilingual &amp; Messy Inputs</a:t>
            </a:r>
            <a:endParaRPr lang="ru-RU" sz="1600" b="1" dirty="0">
              <a:solidFill>
                <a:srgbClr val="0A2B5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47858-606B-E1D9-C6E4-DE8CADC289A5}"/>
              </a:ext>
            </a:extLst>
          </p:cNvPr>
          <p:cNvSpPr txBox="1"/>
          <p:nvPr/>
        </p:nvSpPr>
        <p:spPr>
          <a:xfrm>
            <a:off x="711200" y="3600259"/>
            <a:ext cx="5156200" cy="1152816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lnSpc>
                <a:spcPts val="1980"/>
              </a:lnSpc>
              <a:spcAft>
                <a:spcPts val="400"/>
              </a:spcAft>
            </a:pPr>
            <a:r>
              <a:rPr lang="en-US" sz="1400" i="1" dirty="0">
                <a:solidFill>
                  <a:srgbClr val="E99029"/>
                </a:solidFill>
              </a:rPr>
              <a:t>Problem: Orders contained German/Italian words, abbreviations, compound terms</a:t>
            </a:r>
          </a:p>
          <a:p>
            <a:pPr>
              <a:lnSpc>
                <a:spcPts val="1980"/>
              </a:lnSpc>
              <a:spcAft>
                <a:spcPts val="400"/>
              </a:spcAft>
            </a:pPr>
            <a:r>
              <a:rPr lang="en-US" sz="1400" dirty="0">
                <a:solidFill>
                  <a:srgbClr val="107D89"/>
                </a:solidFill>
              </a:rPr>
              <a:t>SOLUTION: </a:t>
            </a:r>
            <a:r>
              <a:rPr lang="en" sz="1400" dirty="0">
                <a:solidFill>
                  <a:srgbClr val="107D89"/>
                </a:solidFill>
              </a:rPr>
              <a:t>Normalization pipeline (umlauts, ASCII), input-type-specific prompts, synonym mapping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538CC1E-7045-8503-BE4A-ADCBD46D7580}"/>
              </a:ext>
            </a:extLst>
          </p:cNvPr>
          <p:cNvSpPr/>
          <p:nvPr/>
        </p:nvSpPr>
        <p:spPr>
          <a:xfrm>
            <a:off x="711200" y="5016500"/>
            <a:ext cx="5156200" cy="1526322"/>
          </a:xfrm>
          <a:prstGeom prst="rect">
            <a:avLst/>
          </a:prstGeom>
          <a:noFill/>
          <a:ln>
            <a:solidFill>
              <a:srgbClr val="0058A6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C8E2A3-E842-C6B2-DDA1-5355C93F4099}"/>
              </a:ext>
            </a:extLst>
          </p:cNvPr>
          <p:cNvSpPr/>
          <p:nvPr/>
        </p:nvSpPr>
        <p:spPr>
          <a:xfrm>
            <a:off x="1295400" y="5083137"/>
            <a:ext cx="5156200" cy="292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" sz="1600" b="1" dirty="0">
                <a:solidFill>
                  <a:srgbClr val="0A2B52"/>
                </a:solidFill>
              </a:rPr>
              <a:t>CHALLENGE </a:t>
            </a:r>
            <a:r>
              <a:rPr lang="ru-RU" sz="1600" b="1" dirty="0">
                <a:solidFill>
                  <a:srgbClr val="0A2B52"/>
                </a:solidFill>
              </a:rPr>
              <a:t>3</a:t>
            </a:r>
            <a:r>
              <a:rPr lang="en" sz="1600" b="1" dirty="0">
                <a:solidFill>
                  <a:srgbClr val="0A2B52"/>
                </a:solidFill>
              </a:rPr>
              <a:t>  —  Weak Matching Accuracy</a:t>
            </a:r>
            <a:endParaRPr lang="ru-RU" sz="1600" b="1" dirty="0">
              <a:solidFill>
                <a:srgbClr val="0A2B5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5A730A-F944-253D-8872-D85FFDB1E5EB}"/>
              </a:ext>
            </a:extLst>
          </p:cNvPr>
          <p:cNvSpPr txBox="1"/>
          <p:nvPr/>
        </p:nvSpPr>
        <p:spPr>
          <a:xfrm>
            <a:off x="711200" y="5419841"/>
            <a:ext cx="5156200" cy="1152816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lnSpc>
                <a:spcPts val="1980"/>
              </a:lnSpc>
              <a:spcAft>
                <a:spcPts val="400"/>
              </a:spcAft>
            </a:pPr>
            <a:r>
              <a:rPr lang="en-US" sz="1400" i="1" dirty="0">
                <a:solidFill>
                  <a:srgbClr val="E99029"/>
                </a:solidFill>
              </a:rPr>
              <a:t>Problem: Original </a:t>
            </a:r>
            <a:r>
              <a:rPr lang="en-US" sz="1400" i="1" dirty="0" err="1">
                <a:solidFill>
                  <a:srgbClr val="E99029"/>
                </a:solidFill>
              </a:rPr>
              <a:t>SequenceMatcher</a:t>
            </a:r>
            <a:r>
              <a:rPr lang="en-US" sz="1400" i="1" dirty="0">
                <a:solidFill>
                  <a:srgbClr val="E99029"/>
                </a:solidFill>
              </a:rPr>
              <a:t> failed on reordered words and compounds; many items went to fallback, lowering </a:t>
            </a:r>
            <a:r>
              <a:rPr lang="en-US" sz="1400" i="1" dirty="0" err="1">
                <a:solidFill>
                  <a:srgbClr val="E99029"/>
                </a:solidFill>
              </a:rPr>
              <a:t>accurac</a:t>
            </a:r>
            <a:endParaRPr lang="en-US" sz="1400" i="1" dirty="0">
              <a:solidFill>
                <a:srgbClr val="E99029"/>
              </a:solidFill>
            </a:endParaRPr>
          </a:p>
          <a:p>
            <a:pPr>
              <a:lnSpc>
                <a:spcPts val="1980"/>
              </a:lnSpc>
              <a:spcAft>
                <a:spcPts val="400"/>
              </a:spcAft>
            </a:pPr>
            <a:r>
              <a:rPr lang="en-US" sz="1400" dirty="0">
                <a:solidFill>
                  <a:srgbClr val="107D89"/>
                </a:solidFill>
              </a:rPr>
              <a:t>SOLUTION: </a:t>
            </a:r>
            <a:r>
              <a:rPr lang="en" sz="1400" dirty="0">
                <a:solidFill>
                  <a:srgbClr val="107D89"/>
                </a:solidFill>
              </a:rPr>
              <a:t>Used </a:t>
            </a:r>
            <a:r>
              <a:rPr lang="en" sz="1400" dirty="0" err="1">
                <a:solidFill>
                  <a:srgbClr val="107D89"/>
                </a:solidFill>
              </a:rPr>
              <a:t>rapidfuzz</a:t>
            </a:r>
            <a:r>
              <a:rPr lang="en" sz="1400" dirty="0">
                <a:solidFill>
                  <a:srgbClr val="107D89"/>
                </a:solidFill>
              </a:rPr>
              <a:t> + customer template; fallback only if higher score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B357A3B-C5E7-EE6F-3166-C120BE17DA6B}"/>
              </a:ext>
            </a:extLst>
          </p:cNvPr>
          <p:cNvSpPr/>
          <p:nvPr/>
        </p:nvSpPr>
        <p:spPr>
          <a:xfrm>
            <a:off x="6324600" y="1359054"/>
            <a:ext cx="5156200" cy="1526322"/>
          </a:xfrm>
          <a:prstGeom prst="rect">
            <a:avLst/>
          </a:prstGeom>
          <a:noFill/>
          <a:ln>
            <a:solidFill>
              <a:srgbClr val="0058A6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230514-31BA-D262-F410-DC91F07F596A}"/>
              </a:ext>
            </a:extLst>
          </p:cNvPr>
          <p:cNvSpPr/>
          <p:nvPr/>
        </p:nvSpPr>
        <p:spPr>
          <a:xfrm>
            <a:off x="6908800" y="1425691"/>
            <a:ext cx="5156200" cy="292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" sz="1600" b="1" dirty="0">
                <a:solidFill>
                  <a:srgbClr val="0A2B52"/>
                </a:solidFill>
              </a:rPr>
              <a:t>CHALLENGE 4 — Customer-Specific Context Needed</a:t>
            </a:r>
            <a:endParaRPr lang="ru-RU" sz="1600" b="1" dirty="0">
              <a:solidFill>
                <a:srgbClr val="0A2B5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A486D5-A1BD-4AA8-AAAA-0286C2290376}"/>
              </a:ext>
            </a:extLst>
          </p:cNvPr>
          <p:cNvSpPr txBox="1"/>
          <p:nvPr/>
        </p:nvSpPr>
        <p:spPr>
          <a:xfrm>
            <a:off x="6324600" y="1762395"/>
            <a:ext cx="5156200" cy="1152816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lnSpc>
                <a:spcPts val="1980"/>
              </a:lnSpc>
              <a:spcAft>
                <a:spcPts val="400"/>
              </a:spcAft>
            </a:pPr>
            <a:r>
              <a:rPr lang="en-US" sz="1400" i="1" dirty="0">
                <a:solidFill>
                  <a:srgbClr val="E99029"/>
                </a:solidFill>
              </a:rPr>
              <a:t>Problem:</a:t>
            </a:r>
            <a:r>
              <a:rPr lang="ru-RU" sz="1400" i="1" dirty="0">
                <a:solidFill>
                  <a:srgbClr val="E99029"/>
                </a:solidFill>
              </a:rPr>
              <a:t> </a:t>
            </a:r>
            <a:r>
              <a:rPr lang="en-US" sz="1400" i="1" dirty="0">
                <a:solidFill>
                  <a:srgbClr val="E99029"/>
                </a:solidFill>
              </a:rPr>
              <a:t>Searching full catalog for every order was slow and error-prone; ignoring customer history caused mismatches</a:t>
            </a:r>
          </a:p>
          <a:p>
            <a:pPr>
              <a:lnSpc>
                <a:spcPts val="1980"/>
              </a:lnSpc>
              <a:spcAft>
                <a:spcPts val="400"/>
              </a:spcAft>
            </a:pPr>
            <a:r>
              <a:rPr lang="en-US" sz="1400" dirty="0">
                <a:solidFill>
                  <a:srgbClr val="107D89"/>
                </a:solidFill>
              </a:rPr>
              <a:t>SOLUTION:</a:t>
            </a:r>
            <a:r>
              <a:rPr lang="en" sz="1400" dirty="0">
                <a:solidFill>
                  <a:srgbClr val="107D89"/>
                </a:solidFill>
              </a:rPr>
              <a:t> customer template first (~50–100 items), then fuzzy scoring, fallback to full catalog; history boost improves top matches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6AEF68F-64FF-DB9C-32E5-B88665376AA3}"/>
              </a:ext>
            </a:extLst>
          </p:cNvPr>
          <p:cNvSpPr/>
          <p:nvPr/>
        </p:nvSpPr>
        <p:spPr>
          <a:xfrm>
            <a:off x="6324600" y="3184372"/>
            <a:ext cx="5156200" cy="1526322"/>
          </a:xfrm>
          <a:prstGeom prst="rect">
            <a:avLst/>
          </a:prstGeom>
          <a:noFill/>
          <a:ln>
            <a:solidFill>
              <a:srgbClr val="0058A6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7487FB-E03D-6F01-DB0E-9C6F802D7071}"/>
              </a:ext>
            </a:extLst>
          </p:cNvPr>
          <p:cNvSpPr/>
          <p:nvPr/>
        </p:nvSpPr>
        <p:spPr>
          <a:xfrm>
            <a:off x="6908800" y="3251009"/>
            <a:ext cx="5156200" cy="292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" sz="1600" b="1" dirty="0">
                <a:solidFill>
                  <a:srgbClr val="0A2B52"/>
                </a:solidFill>
              </a:rPr>
              <a:t>CHALLENGE </a:t>
            </a:r>
            <a:r>
              <a:rPr lang="ru-RU" sz="1600" b="1" dirty="0">
                <a:solidFill>
                  <a:srgbClr val="0A2B52"/>
                </a:solidFill>
              </a:rPr>
              <a:t>5 </a:t>
            </a:r>
            <a:r>
              <a:rPr lang="en" sz="1600" b="1" dirty="0">
                <a:solidFill>
                  <a:srgbClr val="0A2B52"/>
                </a:solidFill>
              </a:rPr>
              <a:t> —  Low-Confidence Orders</a:t>
            </a:r>
            <a:endParaRPr lang="ru-RU" sz="1600" b="1" dirty="0">
              <a:solidFill>
                <a:srgbClr val="0A2B5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AD912F-10E5-D8A0-EEFD-E8A9B3AB9A7E}"/>
              </a:ext>
            </a:extLst>
          </p:cNvPr>
          <p:cNvSpPr txBox="1"/>
          <p:nvPr/>
        </p:nvSpPr>
        <p:spPr>
          <a:xfrm>
            <a:off x="6324600" y="3587713"/>
            <a:ext cx="5156200" cy="1152816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lnSpc>
                <a:spcPts val="1980"/>
              </a:lnSpc>
              <a:spcAft>
                <a:spcPts val="400"/>
              </a:spcAft>
            </a:pPr>
            <a:r>
              <a:rPr lang="en-US" sz="1400" i="1" dirty="0">
                <a:solidFill>
                  <a:srgbClr val="E99029"/>
                </a:solidFill>
              </a:rPr>
              <a:t>Problem: Some extractions could not be matched reliably, risking ERP errors</a:t>
            </a:r>
          </a:p>
          <a:p>
            <a:pPr>
              <a:lnSpc>
                <a:spcPts val="1980"/>
              </a:lnSpc>
              <a:spcAft>
                <a:spcPts val="400"/>
              </a:spcAft>
            </a:pPr>
            <a:r>
              <a:rPr lang="en-US" sz="1400" dirty="0">
                <a:solidFill>
                  <a:srgbClr val="107D89"/>
                </a:solidFill>
              </a:rPr>
              <a:t>SOLUTION: </a:t>
            </a:r>
            <a:r>
              <a:rPr lang="en" sz="1400" dirty="0">
                <a:solidFill>
                  <a:srgbClr val="107D89"/>
                </a:solidFill>
              </a:rPr>
              <a:t>Added confidence threshold slider + human review UI; items below threshold highlighted for verification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D0C3AAA-6500-05BA-D67C-04BA87E50715}"/>
              </a:ext>
            </a:extLst>
          </p:cNvPr>
          <p:cNvSpPr/>
          <p:nvPr/>
        </p:nvSpPr>
        <p:spPr>
          <a:xfrm>
            <a:off x="6324600" y="5003954"/>
            <a:ext cx="5156200" cy="1526322"/>
          </a:xfrm>
          <a:prstGeom prst="rect">
            <a:avLst/>
          </a:prstGeom>
          <a:noFill/>
          <a:ln>
            <a:solidFill>
              <a:srgbClr val="0058A6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16E6E7F-8A3E-6140-A0C4-D8B8AF037097}"/>
              </a:ext>
            </a:extLst>
          </p:cNvPr>
          <p:cNvSpPr/>
          <p:nvPr/>
        </p:nvSpPr>
        <p:spPr>
          <a:xfrm>
            <a:off x="6908800" y="5070591"/>
            <a:ext cx="5156200" cy="292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" sz="1600" b="1" dirty="0">
                <a:solidFill>
                  <a:srgbClr val="0A2B52"/>
                </a:solidFill>
              </a:rPr>
              <a:t>CHALLENGE 6 — Testing &amp; Evaluation with Real Data</a:t>
            </a:r>
            <a:endParaRPr lang="ru-RU" sz="1600" b="1" dirty="0">
              <a:solidFill>
                <a:srgbClr val="0A2B52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163423-0631-B6E6-342B-7A91534AF14B}"/>
              </a:ext>
            </a:extLst>
          </p:cNvPr>
          <p:cNvSpPr txBox="1"/>
          <p:nvPr/>
        </p:nvSpPr>
        <p:spPr>
          <a:xfrm>
            <a:off x="6324600" y="5407295"/>
            <a:ext cx="5156200" cy="1152816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lnSpc>
                <a:spcPts val="1980"/>
              </a:lnSpc>
              <a:spcAft>
                <a:spcPts val="400"/>
              </a:spcAft>
            </a:pPr>
            <a:r>
              <a:rPr lang="en-US" sz="1400" i="1" dirty="0">
                <a:solidFill>
                  <a:srgbClr val="E99029"/>
                </a:solidFill>
              </a:rPr>
              <a:t>Problem: Loading full catalog and customer templates for tests was slow; original tests failed with real data</a:t>
            </a:r>
          </a:p>
          <a:p>
            <a:pPr>
              <a:lnSpc>
                <a:spcPts val="1980"/>
              </a:lnSpc>
              <a:spcAft>
                <a:spcPts val="400"/>
              </a:spcAft>
            </a:pPr>
            <a:r>
              <a:rPr lang="en-US" sz="1400" dirty="0">
                <a:solidFill>
                  <a:srgbClr val="107D89"/>
                </a:solidFill>
              </a:rPr>
              <a:t>SOLUTION: </a:t>
            </a:r>
            <a:r>
              <a:rPr lang="en" sz="1400" dirty="0">
                <a:solidFill>
                  <a:srgbClr val="107D89"/>
                </a:solidFill>
              </a:rPr>
              <a:t>Patched test data with deterministic mini-catalog fixture (</a:t>
            </a:r>
            <a:r>
              <a:rPr lang="en" sz="1400" dirty="0" err="1">
                <a:solidFill>
                  <a:srgbClr val="107D89"/>
                </a:solidFill>
              </a:rPr>
              <a:t>conftest.py</a:t>
            </a:r>
            <a:r>
              <a:rPr lang="en" sz="1400" dirty="0">
                <a:solidFill>
                  <a:srgbClr val="107D89"/>
                </a:solidFill>
              </a:rPr>
              <a:t>) for </a:t>
            </a:r>
            <a:r>
              <a:rPr lang="en" sz="1400" dirty="0" err="1">
                <a:solidFill>
                  <a:srgbClr val="107D89"/>
                </a:solidFill>
              </a:rPr>
              <a:t>fasttests</a:t>
            </a:r>
            <a:r>
              <a:rPr lang="en" sz="1400" dirty="0">
                <a:solidFill>
                  <a:srgbClr val="107D89"/>
                </a:solidFill>
              </a:rPr>
              <a:t> while keeping real pipeline intact</a:t>
            </a:r>
          </a:p>
        </p:txBody>
      </p:sp>
    </p:spTree>
    <p:extLst>
      <p:ext uri="{BB962C8B-B14F-4D97-AF65-F5344CB8AC3E}">
        <p14:creationId xmlns:p14="http://schemas.microsoft.com/office/powerpoint/2010/main" val="2682995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9A3EA6-BE7E-D845-A00E-2C8F674B04A5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8174A9D-D625-F84F-8FDB-3EFD1A53EB56}"/>
              </a:ext>
            </a:extLst>
          </p:cNvPr>
          <p:cNvSpPr/>
          <p:nvPr/>
        </p:nvSpPr>
        <p:spPr>
          <a:xfrm>
            <a:off x="0" y="0"/>
            <a:ext cx="101600" cy="11684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BC96FD-6059-4F4A-B3AD-06C45894ED11}"/>
              </a:ext>
            </a:extLst>
          </p:cNvPr>
          <p:cNvSpPr txBox="1"/>
          <p:nvPr/>
        </p:nvSpPr>
        <p:spPr>
          <a:xfrm>
            <a:off x="508000" y="203200"/>
            <a:ext cx="11176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2600" b="1">
                <a:solidFill>
                  <a:srgbClr val="FFFFFF"/>
                </a:solidFill>
              </a:rPr>
              <a:t>Results &amp; Key Findings</a:t>
            </a:r>
            <a:endParaRPr lang="ru-RU" sz="26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626EC8-E1F0-EC42-9DE7-9C258867423A}"/>
              </a:ext>
            </a:extLst>
          </p:cNvPr>
          <p:cNvSpPr txBox="1"/>
          <p:nvPr/>
        </p:nvSpPr>
        <p:spPr>
          <a:xfrm>
            <a:off x="533400" y="7112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" sz="1400" dirty="0">
                <a:solidFill>
                  <a:srgbClr val="AEC0D6"/>
                </a:solidFill>
              </a:rPr>
              <a:t>Summary of order processing outcomes</a:t>
            </a:r>
            <a:endParaRPr lang="ru-RU" sz="1400" dirty="0">
              <a:solidFill>
                <a:srgbClr val="AEC0D6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43E02AC-5F3D-0445-9E1E-B3B84107DA3E}"/>
              </a:ext>
            </a:extLst>
          </p:cNvPr>
          <p:cNvSpPr/>
          <p:nvPr/>
        </p:nvSpPr>
        <p:spPr>
          <a:xfrm>
            <a:off x="508000" y="1557866"/>
            <a:ext cx="5444068" cy="5032147"/>
          </a:xfrm>
          <a:prstGeom prst="rect">
            <a:avLst/>
          </a:prstGeom>
          <a:solidFill>
            <a:srgbClr val="117D89">
              <a:alpha val="71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19CCB3-43B0-E24A-8DDF-C565C4CFF570}"/>
              </a:ext>
            </a:extLst>
          </p:cNvPr>
          <p:cNvSpPr txBox="1"/>
          <p:nvPr/>
        </p:nvSpPr>
        <p:spPr>
          <a:xfrm>
            <a:off x="965200" y="1842242"/>
            <a:ext cx="4529667" cy="45704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" b="1" dirty="0">
                <a:solidFill>
                  <a:schemeClr val="bg1"/>
                </a:solidFill>
              </a:rPr>
              <a:t>Key Achievements:</a:t>
            </a:r>
            <a:endParaRPr lang="ru-RU" b="1" dirty="0">
              <a:solidFill>
                <a:schemeClr val="bg1"/>
              </a:solidFill>
            </a:endParaRPr>
          </a:p>
          <a:p>
            <a:endParaRPr lang="en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bg1"/>
                </a:solidFill>
              </a:rPr>
              <a:t>End-to-end automation: Raw WhatsApp/PDF orders → structured ERP items. </a:t>
            </a:r>
            <a:endParaRPr lang="ru-RU" sz="1600" dirty="0">
              <a:solidFill>
                <a:schemeClr val="bg1"/>
              </a:solidFill>
            </a:endParaRPr>
          </a:p>
          <a:p>
            <a:endParaRPr lang="en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bg1"/>
                </a:solidFill>
              </a:rPr>
              <a:t>Three-stage matching: Stage 1 (customer template), Stage 2 (fuzzy), Stage 3 (full catalog fallback). </a:t>
            </a:r>
            <a:endParaRPr lang="ru-RU" sz="1600" dirty="0">
              <a:solidFill>
                <a:schemeClr val="bg1"/>
              </a:solidFill>
            </a:endParaRPr>
          </a:p>
          <a:p>
            <a:endParaRPr lang="en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bg1"/>
                </a:solidFill>
              </a:rPr>
              <a:t>Multilingual and compound handling: “</a:t>
            </a:r>
            <a:r>
              <a:rPr lang="en" sz="1600" dirty="0" err="1">
                <a:solidFill>
                  <a:schemeClr val="bg1"/>
                </a:solidFill>
              </a:rPr>
              <a:t>Naturjoghurt</a:t>
            </a:r>
            <a:r>
              <a:rPr lang="en" sz="1600" dirty="0">
                <a:solidFill>
                  <a:schemeClr val="bg1"/>
                </a:solidFill>
              </a:rPr>
              <a:t> </a:t>
            </a:r>
            <a:r>
              <a:rPr lang="en" sz="1600" dirty="0" err="1">
                <a:solidFill>
                  <a:schemeClr val="bg1"/>
                </a:solidFill>
              </a:rPr>
              <a:t>Brimi</a:t>
            </a:r>
            <a:r>
              <a:rPr lang="en" sz="1600" dirty="0">
                <a:solidFill>
                  <a:schemeClr val="bg1"/>
                </a:solidFill>
              </a:rPr>
              <a:t>” correctly matched to “JOGHURT NATUR BRIMI” using fuzzy scoring and compound splitting. </a:t>
            </a:r>
            <a:endParaRPr lang="ru-RU" sz="1600" dirty="0">
              <a:solidFill>
                <a:schemeClr val="bg1"/>
              </a:solidFill>
            </a:endParaRPr>
          </a:p>
          <a:p>
            <a:endParaRPr lang="en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bg1"/>
                </a:solidFill>
              </a:rPr>
              <a:t>Confidence awareness: The model assigns a confidence score to each matched item (e.g., 97%, 93%, 75%, 68%).</a:t>
            </a:r>
          </a:p>
          <a:p>
            <a:pPr algn="l"/>
            <a:endParaRPr lang="ru-RU" sz="1500" b="1" dirty="0">
              <a:solidFill>
                <a:srgbClr val="FFFFFF"/>
              </a:solidFill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5B51D14-E046-EE46-A759-3C0AE36EB862}"/>
              </a:ext>
            </a:extLst>
          </p:cNvPr>
          <p:cNvSpPr/>
          <p:nvPr/>
        </p:nvSpPr>
        <p:spPr>
          <a:xfrm>
            <a:off x="6239931" y="1557866"/>
            <a:ext cx="5444068" cy="5032146"/>
          </a:xfrm>
          <a:prstGeom prst="rect">
            <a:avLst/>
          </a:prstGeom>
          <a:noFill/>
          <a:ln w="34925" cap="flat" cmpd="sng" algn="ctr">
            <a:solidFill>
              <a:srgbClr val="107D89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1CD429-795A-9248-8DE9-7BCA53D6A470}"/>
              </a:ext>
            </a:extLst>
          </p:cNvPr>
          <p:cNvSpPr txBox="1"/>
          <p:nvPr/>
        </p:nvSpPr>
        <p:spPr>
          <a:xfrm>
            <a:off x="7332134" y="2047480"/>
            <a:ext cx="508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b="1" dirty="0">
                <a:solidFill>
                  <a:srgbClr val="0A2C52"/>
                </a:solidFill>
              </a:rPr>
              <a:t>Examples of successful matches</a:t>
            </a:r>
          </a:p>
        </p:txBody>
      </p:sp>
      <p:graphicFrame>
        <p:nvGraphicFramePr>
          <p:cNvPr id="35" name="Таблица 34">
            <a:extLst>
              <a:ext uri="{FF2B5EF4-FFF2-40B4-BE49-F238E27FC236}">
                <a16:creationId xmlns:a16="http://schemas.microsoft.com/office/drawing/2014/main" id="{CE7285FB-728E-18AF-B21D-AB2319C30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796423"/>
              </p:ext>
            </p:extLst>
          </p:nvPr>
        </p:nvGraphicFramePr>
        <p:xfrm>
          <a:off x="6798732" y="2611545"/>
          <a:ext cx="4631267" cy="303187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13180">
                  <a:extLst>
                    <a:ext uri="{9D8B030D-6E8A-4147-A177-3AD203B41FA5}">
                      <a16:colId xmlns:a16="http://schemas.microsoft.com/office/drawing/2014/main" val="2456531156"/>
                    </a:ext>
                  </a:extLst>
                </a:gridCol>
                <a:gridCol w="2079737">
                  <a:extLst>
                    <a:ext uri="{9D8B030D-6E8A-4147-A177-3AD203B41FA5}">
                      <a16:colId xmlns:a16="http://schemas.microsoft.com/office/drawing/2014/main" val="693838746"/>
                    </a:ext>
                  </a:extLst>
                </a:gridCol>
                <a:gridCol w="616218">
                  <a:extLst>
                    <a:ext uri="{9D8B030D-6E8A-4147-A177-3AD203B41FA5}">
                      <a16:colId xmlns:a16="http://schemas.microsoft.com/office/drawing/2014/main" val="1611282292"/>
                    </a:ext>
                  </a:extLst>
                </a:gridCol>
                <a:gridCol w="722132">
                  <a:extLst>
                    <a:ext uri="{9D8B030D-6E8A-4147-A177-3AD203B41FA5}">
                      <a16:colId xmlns:a16="http://schemas.microsoft.com/office/drawing/2014/main" val="182690296"/>
                    </a:ext>
                  </a:extLst>
                </a:gridCol>
              </a:tblGrid>
              <a:tr h="513927"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 dirty="0">
                          <a:effectLst/>
                        </a:rPr>
                        <a:t>WhatsApp Input</a:t>
                      </a:r>
                      <a:endParaRPr lang="en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A2B5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 dirty="0">
                          <a:effectLst/>
                        </a:rPr>
                        <a:t>Matched ERP Item</a:t>
                      </a:r>
                      <a:endParaRPr lang="en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A2B5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 dirty="0">
                          <a:effectLst/>
                        </a:rPr>
                        <a:t>Code</a:t>
                      </a:r>
                      <a:endParaRPr lang="en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A2B5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core</a:t>
                      </a:r>
                      <a:endParaRPr lang="en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A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0558"/>
                  </a:ext>
                </a:extLst>
              </a:tr>
              <a:tr h="481847"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 dirty="0">
                          <a:effectLst/>
                        </a:rPr>
                        <a:t>Burro Cucina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 dirty="0">
                          <a:effectLst/>
                        </a:rPr>
                        <a:t>BMK27 KAKAOBUTTER TROPFEN 3kg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 dirty="0">
                          <a:effectLst/>
                        </a:rPr>
                        <a:t>BMK27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 dirty="0">
                          <a:effectLst/>
                        </a:rPr>
                        <a:t>68%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90110135"/>
                  </a:ext>
                </a:extLst>
              </a:tr>
              <a:tr h="481847"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>
                          <a:effectLst/>
                        </a:rPr>
                        <a:t>Burro mini porzioni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 dirty="0">
                          <a:effectLst/>
                        </a:rPr>
                        <a:t>BU64F BUTTER PORTIONEN 10g 1,5kg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>
                          <a:effectLst/>
                        </a:rPr>
                        <a:t>BU64F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 dirty="0">
                          <a:effectLst/>
                        </a:rPr>
                        <a:t>93%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8693899"/>
                  </a:ext>
                </a:extLst>
              </a:tr>
              <a:tr h="481847"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>
                          <a:effectLst/>
                        </a:rPr>
                        <a:t>Panna Cucina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 dirty="0">
                          <a:effectLst/>
                        </a:rPr>
                        <a:t>AE84F ALPIN HERBS KÜCHENKRÄUTER 50g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>
                          <a:effectLst/>
                        </a:rPr>
                        <a:t>AE84F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>
                          <a:effectLst/>
                        </a:rPr>
                        <a:t>68%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76854326"/>
                  </a:ext>
                </a:extLst>
              </a:tr>
              <a:tr h="481847"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>
                          <a:effectLst/>
                        </a:rPr>
                        <a:t>Philadelphia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 dirty="0">
                          <a:effectLst/>
                        </a:rPr>
                        <a:t>KA05F PHILADELPHIA 60 PORTIONEN 1kg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 dirty="0">
                          <a:effectLst/>
                        </a:rPr>
                        <a:t>KA05F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>
                          <a:effectLst/>
                        </a:rPr>
                        <a:t>100%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6145986"/>
                  </a:ext>
                </a:extLst>
              </a:tr>
              <a:tr h="590560"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>
                          <a:effectLst/>
                        </a:rPr>
                        <a:t>Camembert 125 g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 dirty="0">
                          <a:effectLst/>
                        </a:rPr>
                        <a:t>KA07F CAMEMBERT PORTIONEN 15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" sz="1200" u="none" strike="noStrike" dirty="0">
                          <a:effectLst/>
                        </a:rPr>
                        <a:t>KA07F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 dirty="0">
                          <a:effectLst/>
                        </a:rPr>
                        <a:t>83%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787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93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A3DF84F-59A7-864A-BDAD-2A8E38C5005C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6033338-88B7-D840-A12D-C7D486DEC9FC}"/>
              </a:ext>
            </a:extLst>
          </p:cNvPr>
          <p:cNvSpPr/>
          <p:nvPr/>
        </p:nvSpPr>
        <p:spPr>
          <a:xfrm>
            <a:off x="0" y="0"/>
            <a:ext cx="101600" cy="11684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F75AF-E73B-BA42-AB08-F5FCB2120766}"/>
              </a:ext>
            </a:extLst>
          </p:cNvPr>
          <p:cNvSpPr txBox="1"/>
          <p:nvPr/>
        </p:nvSpPr>
        <p:spPr>
          <a:xfrm>
            <a:off x="508000" y="203200"/>
            <a:ext cx="11176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2600" b="1">
                <a:solidFill>
                  <a:srgbClr val="FFFFFF"/>
                </a:solidFill>
              </a:rPr>
              <a:t>Takeaways &amp; Recommendations</a:t>
            </a:r>
            <a:endParaRPr lang="ru-RU" sz="26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11ABC4-78CA-AF47-94E3-D4E0B77BE543}"/>
              </a:ext>
            </a:extLst>
          </p:cNvPr>
          <p:cNvSpPr txBox="1"/>
          <p:nvPr/>
        </p:nvSpPr>
        <p:spPr>
          <a:xfrm>
            <a:off x="533400" y="7112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sz="1400">
                <a:solidFill>
                  <a:srgbClr val="AEC0D6"/>
                </a:solidFill>
              </a:rPr>
              <a:t>Practical conclusions for Foppa &amp; LOGon — and where to go next</a:t>
            </a:r>
            <a:endParaRPr lang="ru-RU" sz="1400">
              <a:solidFill>
                <a:srgbClr val="AEC0D6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01C38DD-81D2-B440-B813-6F51CE097306}"/>
              </a:ext>
            </a:extLst>
          </p:cNvPr>
          <p:cNvSpPr/>
          <p:nvPr/>
        </p:nvSpPr>
        <p:spPr>
          <a:xfrm>
            <a:off x="711200" y="1422400"/>
            <a:ext cx="5207000" cy="381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8E0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10E63FB-B97C-D64C-B9EF-B11B3FF9C154}"/>
              </a:ext>
            </a:extLst>
          </p:cNvPr>
          <p:cNvSpPr/>
          <p:nvPr/>
        </p:nvSpPr>
        <p:spPr>
          <a:xfrm>
            <a:off x="711200" y="1422400"/>
            <a:ext cx="5207000" cy="609600"/>
          </a:xfrm>
          <a:prstGeom prst="rect">
            <a:avLst/>
          </a:prstGeom>
          <a:solidFill>
            <a:srgbClr val="0058A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sz="1700" b="1">
                <a:solidFill>
                  <a:srgbClr val="FFFFFF"/>
                </a:solidFill>
              </a:rPr>
              <a:t>KEY TAKEAWAYS</a:t>
            </a:r>
            <a:endParaRPr lang="ru-RU" sz="17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558B2-2FB0-204A-A37C-3912E9FE5426}"/>
              </a:ext>
            </a:extLst>
          </p:cNvPr>
          <p:cNvSpPr txBox="1"/>
          <p:nvPr/>
        </p:nvSpPr>
        <p:spPr>
          <a:xfrm>
            <a:off x="965200" y="2209800"/>
            <a:ext cx="4699000" cy="300883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" sz="1600" dirty="0">
                <a:solidFill>
                  <a:srgbClr val="1D2433"/>
                </a:solidFill>
              </a:rPr>
              <a:t>•   AI extraction + fuzzy matching reliably structures messy real-world orders
•   Customer templates (Stage 1) are the biggest accuracy lever — they shrink the search space
•   A confidence threshold cleanly splits auto-approve from human review
•   Feedback turns every confirmed order into future accuracy</a:t>
            </a:r>
            <a:endParaRPr lang="ru-RU" sz="1600" dirty="0">
              <a:solidFill>
                <a:srgbClr val="1D2433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25E9A59-BE83-1448-A410-B315DCF872D4}"/>
              </a:ext>
            </a:extLst>
          </p:cNvPr>
          <p:cNvSpPr/>
          <p:nvPr/>
        </p:nvSpPr>
        <p:spPr>
          <a:xfrm>
            <a:off x="6273800" y="1422400"/>
            <a:ext cx="5207000" cy="381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8E0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01680FD-8E83-3C48-AF43-C876105E5FB9}"/>
              </a:ext>
            </a:extLst>
          </p:cNvPr>
          <p:cNvSpPr/>
          <p:nvPr/>
        </p:nvSpPr>
        <p:spPr>
          <a:xfrm>
            <a:off x="6273800" y="1422400"/>
            <a:ext cx="5207000" cy="609600"/>
          </a:xfrm>
          <a:prstGeom prst="rect">
            <a:avLst/>
          </a:prstGeom>
          <a:solidFill>
            <a:srgbClr val="20A0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sz="1700" b="1">
                <a:solidFill>
                  <a:srgbClr val="FFFFFF"/>
                </a:solidFill>
              </a:rPr>
              <a:t>RECOMMENDATIONS</a:t>
            </a:r>
            <a:endParaRPr lang="ru-RU" sz="1700" b="1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B98F0-75FF-CC45-AFCA-DCBA855909FA}"/>
              </a:ext>
            </a:extLst>
          </p:cNvPr>
          <p:cNvSpPr txBox="1"/>
          <p:nvPr/>
        </p:nvSpPr>
        <p:spPr>
          <a:xfrm>
            <a:off x="6527800" y="2209800"/>
            <a:ext cx="4699000" cy="300883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" sz="1600" dirty="0">
                <a:solidFill>
                  <a:srgbClr val="1D2433"/>
                </a:solidFill>
              </a:rPr>
              <a:t>•   Deploy as a back-office assistant: AI drafts, staff confirm in one click
•   Integrate </a:t>
            </a:r>
            <a:r>
              <a:rPr lang="en" sz="1600" dirty="0" err="1">
                <a:solidFill>
                  <a:srgbClr val="1D2433"/>
                </a:solidFill>
              </a:rPr>
              <a:t>Schablone</a:t>
            </a:r>
            <a:r>
              <a:rPr lang="en" sz="1600" dirty="0">
                <a:solidFill>
                  <a:srgbClr val="1D2433"/>
                </a:solidFill>
              </a:rPr>
              <a:t> templates directly into the live ERP
•   Keep the auto-approve threshold conservative (≥85); route the rest to review
•   Log every correction to retrain matching weights over time</a:t>
            </a:r>
            <a:endParaRPr lang="ru-RU" sz="1600" dirty="0">
              <a:solidFill>
                <a:srgbClr val="1D2433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A37C067-D4A0-C944-94DE-0ABF38715188}"/>
              </a:ext>
            </a:extLst>
          </p:cNvPr>
          <p:cNvSpPr/>
          <p:nvPr/>
        </p:nvSpPr>
        <p:spPr>
          <a:xfrm>
            <a:off x="711200" y="5461000"/>
            <a:ext cx="10769600" cy="7112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D2C79F-C6E9-C64E-B23B-2502F2C8035B}"/>
              </a:ext>
            </a:extLst>
          </p:cNvPr>
          <p:cNvSpPr txBox="1"/>
          <p:nvPr/>
        </p:nvSpPr>
        <p:spPr>
          <a:xfrm>
            <a:off x="965200" y="5461000"/>
            <a:ext cx="102616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sz="1500" b="1">
                <a:solidFill>
                  <a:srgbClr val="FFFFFF"/>
                </a:solidFill>
              </a:rPr>
              <a:t>Next steps:  real ground-truth evaluation  ·  multilingual synonym expansion  ·  OCR fallback for low-quality photos</a:t>
            </a:r>
            <a:endParaRPr lang="ru-RU" sz="15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62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7C494E1-2920-5F4E-9294-1B4F340769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08BB97B-0C18-1F41-B202-30807DF1720C}"/>
              </a:ext>
            </a:extLst>
          </p:cNvPr>
          <p:cNvSpPr/>
          <p:nvPr/>
        </p:nvSpPr>
        <p:spPr>
          <a:xfrm>
            <a:off x="10058400" y="0"/>
            <a:ext cx="2133600" cy="6858000"/>
          </a:xfrm>
          <a:prstGeom prst="rect">
            <a:avLst/>
          </a:prstGeom>
          <a:solidFill>
            <a:srgbClr val="0E3A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45A252D-A579-5148-B2C2-F5B3E7359667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387A4-2730-AC4B-BF6A-89F5C0765864}"/>
              </a:ext>
            </a:extLst>
          </p:cNvPr>
          <p:cNvSpPr txBox="1"/>
          <p:nvPr/>
        </p:nvSpPr>
        <p:spPr>
          <a:xfrm>
            <a:off x="1016000" y="1854200"/>
            <a:ext cx="10160000" cy="9541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600" b="1" dirty="0">
                <a:solidFill>
                  <a:srgbClr val="FFFFFF"/>
                </a:solidFill>
              </a:rPr>
              <a:t>Applications</a:t>
            </a:r>
            <a:endParaRPr lang="ru-RU" sz="5600" b="1" dirty="0">
              <a:solidFill>
                <a:srgbClr val="FFFFFF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756EF88-0EAD-1446-8561-EB57FCBF0A79}"/>
              </a:ext>
            </a:extLst>
          </p:cNvPr>
          <p:cNvSpPr/>
          <p:nvPr/>
        </p:nvSpPr>
        <p:spPr>
          <a:xfrm>
            <a:off x="1117600" y="2840057"/>
            <a:ext cx="1219200" cy="635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518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B68D5-7F8E-49E8-339C-2FF965EC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1120AB34-D4AF-60CA-A858-E51F41C96C00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A2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A8FC965B-70BE-C6E6-6AB9-8694B48C2FDC}"/>
              </a:ext>
            </a:extLst>
          </p:cNvPr>
          <p:cNvSpPr/>
          <p:nvPr/>
        </p:nvSpPr>
        <p:spPr>
          <a:xfrm>
            <a:off x="0" y="0"/>
            <a:ext cx="101600" cy="1168400"/>
          </a:xfrm>
          <a:prstGeom prst="rect">
            <a:avLst/>
          </a:prstGeom>
          <a:solidFill>
            <a:srgbClr val="E890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E08460-9BB6-4FF8-449E-452B13A0CF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32"/>
          <a:stretch/>
        </p:blipFill>
        <p:spPr>
          <a:xfrm>
            <a:off x="50800" y="0"/>
            <a:ext cx="12160447" cy="66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31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81110649848]">
  <a:themeElements>
    <a:clrScheme name="Office">
      <a:dk1>
        <a:srgbClr val="1D1D1C"/>
      </a:dk1>
      <a:lt1>
        <a:srgbClr val="FFFFFF"/>
      </a:lt1>
      <a:dk2>
        <a:srgbClr val="0058A5"/>
      </a:dk2>
      <a:lt2>
        <a:srgbClr val="F2F5F8"/>
      </a:lt2>
      <a:accent1>
        <a:srgbClr val="0058A5"/>
      </a:accent1>
      <a:accent2>
        <a:srgbClr val="D91D3E"/>
      </a:accent2>
      <a:accent3>
        <a:srgbClr val="706F6F"/>
      </a:accent3>
      <a:accent4>
        <a:srgbClr val="289438"/>
      </a:accent4>
      <a:accent5>
        <a:srgbClr val="EC6411"/>
      </a:accent5>
      <a:accent6>
        <a:srgbClr val="0076B8"/>
      </a:accent6>
      <a:hlink>
        <a:srgbClr val="0563C1"/>
      </a:hlink>
      <a:folHlink>
        <a:srgbClr val="954F72"/>
      </a:folHlink>
    </a:clrScheme>
    <a:fontScheme name="Office">
      <a:majorFont>
        <a:latin typeface="Roboto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 [1781114799960]">
  <a:themeElements>
    <a:clrScheme name="Office">
      <a:dk1>
        <a:srgbClr val="1D2433"/>
      </a:dk1>
      <a:lt1>
        <a:srgbClr val="FFFFFF"/>
      </a:lt1>
      <a:dk2>
        <a:srgbClr val="0A2C52"/>
      </a:dk2>
      <a:lt2>
        <a:srgbClr val="EEF3F8"/>
      </a:lt2>
      <a:accent1>
        <a:srgbClr val="0058A5"/>
      </a:accent1>
      <a:accent2>
        <a:srgbClr val="117D89"/>
      </a:accent2>
      <a:accent3>
        <a:srgbClr val="20A038"/>
      </a:accent3>
      <a:accent4>
        <a:srgbClr val="E8902A"/>
      </a:accent4>
      <a:accent5>
        <a:srgbClr val="D91D3E"/>
      </a:accent5>
      <a:accent6>
        <a:srgbClr val="0A2C52"/>
      </a:accent6>
      <a:hlink>
        <a:srgbClr val="0563C1"/>
      </a:hlink>
      <a:folHlink>
        <a:srgbClr val="954F72"/>
      </a:folHlink>
    </a:clrScheme>
    <a:fontScheme name="Office">
      <a:majorFont>
        <a:latin typeface="Roboto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7e5e599-4643-4ff8-ba79-3bcd83988ff1}">
  <we:reference id="WA200010001" version="1.0.0.1" store="en-US" storeType="OMEX"/>
  <we:alternateReferences/>
  <we:properties>
    <we:property name="Microsoft.Office.CampaignId" value="&quot;none&quot;"/>
    <we:property name="claude.fileId" value="&quot;c49877fd-2640-4957-9765-5690d1a7d69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3025</TotalTime>
  <Words>1097</Words>
  <Application>Microsoft Macintosh PowerPoint</Application>
  <PresentationFormat>Широкоэкранный</PresentationFormat>
  <Paragraphs>138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Roboto</vt:lpstr>
      <vt:lpstr>Wingdings</vt:lpstr>
      <vt:lpstr>Office Theme</vt:lpstr>
      <vt:lpstr>Office Theme [1781110649848]</vt:lpstr>
      <vt:lpstr>Office Theme [1781114799960]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Наталья Акатьева</cp:lastModifiedBy>
  <cp:revision>11</cp:revision>
  <dcterms:created xsi:type="dcterms:W3CDTF">2018-06-07T21:39:02Z</dcterms:created>
  <dcterms:modified xsi:type="dcterms:W3CDTF">2026-06-10T21:48:00Z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